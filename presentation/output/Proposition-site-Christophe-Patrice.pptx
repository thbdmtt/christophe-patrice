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Monsieur Patrice. Je suis passionné de vin et de création web. En découvrant votre domaine, j’ai eu envie d’imaginer une présence digitale qui restitue davantage le soin, les terroirs et la personnalité que l’on associe à vos cuvées. Cette présentation montre une version déjà fonctionnelle, mais conçue pour être validée et finalisée avec 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site actuel contient déjà des informations utiles. Mon intention n’est pas de le dénigrer, mais de montrer que sa forme actuelle masque une partie de la valeur du domaine. La nouvelle proposition reprend cette matière et la transforme en une expérience plus claire, plus contemporaine et plus fidèle à votre identité.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refonte ne se limite pas à une nouvelle esthétique. Elle organise trois parcours simples : le particulier qui veut goûter ou acheter, le professionnel qui cherche une gamme et des tarifs, et le visiteur qui prépare son passage dans le Chablisien. Le site est déjà bilingue et pensé pour le mobile.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L’enjeu n’est pas de suivre une mode. Le site est aujourd’hui une extension de l’accueil au domaine. Il rassure, facilite la visite, donne accès aux professionnels et favorise la vente directe. L’étude Afnic menée avec MV2 et le Baromètre France Num montrent que la viticulture est déjà l’un des secteurs agricoles les plus avancés sur ces usages.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 ne souhaite pas inventer une histoire ou une fiche technique pour rendre la maquette plus impressionnante. J’ai donc retiré les chiffres contradictoires et préparé une liste précise de validation. Une courte séance avec vous permettra de sécuriser la surface, la gamme actuelle, les cuvées et les informations légales.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projet de ce niveau se facture normalement autour de 4 000 euros hors taxes. Comme cette première version a été réalisée par passion et que l’idée est de construire une relation directe avec le domaine, je propose une formule inhabituelle : 60 bouteilles panachées, avec les frais techniques réglés directement par le domaine. L’échange serait naturellement valorisé et facturé proprement.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suite est volontairement simple. Nous regardons la version ensemble, nous validons les informations, puis je réalise les ajustements. Rien n’est basculé sur votre domaine sans votre accord final. Je reste ensuite disponible pendant trente jours pour corriger tout problème lié à la mise en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Nouvelle page d'accueil proposée pour le Domaine Christophe Patrice">    </p:cNvPr>
          <p:cNvPicPr>
            <a:picLocks noChangeAspect="1"/>
          </p:cNvPicPr>
          <p:nvPr/>
        </p:nvPicPr>
        <p:blipFill>
          <a:blip r:embed="rId1"/>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71A15">
              <a:alpha val="70000"/>
            </a:srgbClr>
          </a:solidFill>
          <a:ln w="12700">
            <a:solidFill>
              <a:srgbClr val="171A15">
                <a:alpha val="0"/>
              </a:srgbClr>
            </a:solidFill>
            <a:prstDash val="solid"/>
          </a:ln>
        </p:spPr>
      </p:sp>
      <p:sp>
        <p:nvSpPr>
          <p:cNvPr id="4" name="Shape 1"/>
          <p:cNvSpPr/>
          <p:nvPr/>
        </p:nvSpPr>
        <p:spPr>
          <a:xfrm>
            <a:off x="0" y="0"/>
            <a:ext cx="6126480" cy="6858000"/>
          </a:xfrm>
          <a:prstGeom prst="rect">
            <a:avLst/>
          </a:prstGeom>
          <a:solidFill>
            <a:srgbClr val="171A15">
              <a:alpha val="80000"/>
            </a:srgbClr>
          </a:solidFill>
          <a:ln w="12700">
            <a:solidFill>
              <a:srgbClr val="171A15">
                <a:alpha val="0"/>
              </a:srgbClr>
            </a:solidFill>
            <a:prstDash val="solid"/>
          </a:ln>
        </p:spPr>
      </p:sp>
      <p:sp>
        <p:nvSpPr>
          <p:cNvPr id="5" name="Shape 2"/>
          <p:cNvSpPr/>
          <p:nvPr/>
        </p:nvSpPr>
        <p:spPr>
          <a:xfrm>
            <a:off x="658368" y="662940"/>
            <a:ext cx="256032" cy="0"/>
          </a:xfrm>
          <a:prstGeom prst="line">
            <a:avLst/>
          </a:prstGeom>
          <a:noFill/>
          <a:ln w="16510">
            <a:solidFill>
              <a:srgbClr val="58A07D"/>
            </a:solidFill>
            <a:prstDash val="solid"/>
          </a:ln>
        </p:spPr>
      </p:sp>
      <p:sp>
        <p:nvSpPr>
          <p:cNvPr id="6" name="Text 3"/>
          <p:cNvSpPr/>
          <p:nvPr/>
        </p:nvSpPr>
        <p:spPr>
          <a:xfrm>
            <a:off x="1042416" y="566928"/>
            <a:ext cx="4297680" cy="219456"/>
          </a:xfrm>
          <a:prstGeom prst="rect">
            <a:avLst/>
          </a:prstGeom>
          <a:noFill/>
          <a:ln/>
        </p:spPr>
        <p:txBody>
          <a:bodyPr wrap="square" lIns="0" tIns="0" rIns="0" bIns="0" rtlCol="0" anchor="ctr"/>
          <a:lstStyle/>
          <a:p>
            <a:pPr indent="0" marL="0">
              <a:buNone/>
            </a:pPr>
            <a:r>
              <a:rPr lang="en-US" sz="850" b="1" spc="180" kern="0" dirty="0">
                <a:solidFill>
                  <a:srgbClr val="58A07D"/>
                </a:solidFill>
                <a:latin typeface="Arial" pitchFamily="34" charset="0"/>
                <a:ea typeface="Arial" pitchFamily="34" charset="-122"/>
                <a:cs typeface="Arial" pitchFamily="34" charset="-120"/>
              </a:rPr>
              <a:t>PROPOSITION · JUILLET 2026</a:t>
            </a:r>
            <a:endParaRPr lang="en-US" sz="850" dirty="0"/>
          </a:p>
        </p:txBody>
      </p:sp>
      <p:sp>
        <p:nvSpPr>
          <p:cNvPr id="7" name="Text 4"/>
          <p:cNvSpPr/>
          <p:nvPr/>
        </p:nvSpPr>
        <p:spPr>
          <a:xfrm>
            <a:off x="658368" y="1307592"/>
            <a:ext cx="5669280" cy="1664208"/>
          </a:xfrm>
          <a:prstGeom prst="rect">
            <a:avLst/>
          </a:prstGeom>
          <a:noFill/>
          <a:ln/>
        </p:spPr>
        <p:txBody>
          <a:bodyPr wrap="square" lIns="0" tIns="0" rIns="0" bIns="0" rtlCol="0" anchor="t"/>
          <a:lstStyle/>
          <a:p>
            <a:pPr indent="0" marL="0">
              <a:buNone/>
            </a:pPr>
            <a:r>
              <a:rPr lang="en-US" sz="3200" b="1" dirty="0">
                <a:solidFill>
                  <a:srgbClr val="F7F4EC"/>
                </a:solidFill>
                <a:latin typeface="Georgia" pitchFamily="34" charset="0"/>
                <a:ea typeface="Georgia" pitchFamily="34" charset="-122"/>
                <a:cs typeface="Georgia" pitchFamily="34" charset="-120"/>
              </a:rPr>
              <a:t>Une présence digitale</a:t>
            </a:r>
            <a:endParaRPr lang="en-US" sz="3200" dirty="0"/>
          </a:p>
          <a:p>
            <a:pPr indent="0" marL="0">
              <a:buNone/>
            </a:pPr>
            <a:r>
              <a:rPr lang="en-US" sz="3200" b="1" dirty="0">
                <a:solidFill>
                  <a:srgbClr val="F7F4EC"/>
                </a:solidFill>
                <a:latin typeface="Georgia" pitchFamily="34" charset="0"/>
                <a:ea typeface="Georgia" pitchFamily="34" charset="-122"/>
                <a:cs typeface="Georgia" pitchFamily="34" charset="-120"/>
              </a:rPr>
              <a:t>à la hauteur du domaine</a:t>
            </a:r>
            <a:endParaRPr lang="en-US" sz="3200" dirty="0"/>
          </a:p>
        </p:txBody>
      </p:sp>
      <p:sp>
        <p:nvSpPr>
          <p:cNvPr id="8" name="Shape 5"/>
          <p:cNvSpPr/>
          <p:nvPr/>
        </p:nvSpPr>
        <p:spPr>
          <a:xfrm>
            <a:off x="685800" y="3246120"/>
            <a:ext cx="0" cy="768096"/>
          </a:xfrm>
          <a:prstGeom prst="line">
            <a:avLst/>
          </a:prstGeom>
          <a:noFill/>
          <a:ln w="25400">
            <a:solidFill>
              <a:srgbClr val="58A07D"/>
            </a:solidFill>
            <a:prstDash val="solid"/>
          </a:ln>
        </p:spPr>
      </p:sp>
      <p:sp>
        <p:nvSpPr>
          <p:cNvPr id="9" name="Text 6"/>
          <p:cNvSpPr/>
          <p:nvPr/>
        </p:nvSpPr>
        <p:spPr>
          <a:xfrm>
            <a:off x="932688" y="3255264"/>
            <a:ext cx="4526280" cy="749808"/>
          </a:xfrm>
          <a:prstGeom prst="rect">
            <a:avLst/>
          </a:prstGeom>
          <a:noFill/>
          <a:ln/>
        </p:spPr>
        <p:txBody>
          <a:bodyPr wrap="square" lIns="0" tIns="0" rIns="0" bIns="0" rtlCol="0" anchor="t"/>
          <a:lstStyle/>
          <a:p>
            <a:pPr indent="0" marL="0">
              <a:buNone/>
            </a:pPr>
            <a:r>
              <a:rPr lang="en-US" sz="1400" dirty="0">
                <a:solidFill>
                  <a:srgbClr val="F7F4EC"/>
                </a:solidFill>
                <a:latin typeface="Arial" pitchFamily="34" charset="0"/>
                <a:ea typeface="Arial" pitchFamily="34" charset="-122"/>
                <a:cs typeface="Arial" pitchFamily="34" charset="-120"/>
              </a:rPr>
              <a:t>Une nouvelle vitrine pour raconter les terroirs,</a:t>
            </a:r>
            <a:endParaRPr lang="en-US" sz="1400" dirty="0"/>
          </a:p>
          <a:p>
            <a:pPr indent="0" marL="0">
              <a:buNone/>
            </a:pPr>
            <a:r>
              <a:rPr lang="en-US" sz="1400" dirty="0">
                <a:solidFill>
                  <a:srgbClr val="F7F4EC"/>
                </a:solidFill>
                <a:latin typeface="Arial" pitchFamily="34" charset="0"/>
                <a:ea typeface="Arial" pitchFamily="34" charset="-122"/>
                <a:cs typeface="Arial" pitchFamily="34" charset="-120"/>
              </a:rPr>
              <a:t>présenter les cuvées et faciliter la vente directe.</a:t>
            </a:r>
            <a:endParaRPr lang="en-US" sz="1400" dirty="0"/>
          </a:p>
        </p:txBody>
      </p:sp>
      <p:sp>
        <p:nvSpPr>
          <p:cNvPr id="10" name="Shape 7"/>
          <p:cNvSpPr/>
          <p:nvPr/>
        </p:nvSpPr>
        <p:spPr>
          <a:xfrm>
            <a:off x="658368" y="4892040"/>
            <a:ext cx="1691640" cy="310896"/>
          </a:xfrm>
          <a:prstGeom prst="roundRect">
            <a:avLst>
              <a:gd name="adj" fmla="val 14706"/>
            </a:avLst>
          </a:prstGeom>
          <a:solidFill>
            <a:srgbClr val="252A22"/>
          </a:solidFill>
          <a:ln w="10160">
            <a:solidFill>
              <a:srgbClr val="383C32"/>
            </a:solidFill>
            <a:prstDash val="solid"/>
          </a:ln>
        </p:spPr>
      </p:sp>
      <p:sp>
        <p:nvSpPr>
          <p:cNvPr id="11" name="Text 8"/>
          <p:cNvSpPr/>
          <p:nvPr/>
        </p:nvSpPr>
        <p:spPr>
          <a:xfrm>
            <a:off x="749808" y="4910328"/>
            <a:ext cx="1508760" cy="265176"/>
          </a:xfrm>
          <a:prstGeom prst="rect">
            <a:avLst/>
          </a:prstGeom>
          <a:noFill/>
          <a:ln/>
        </p:spPr>
        <p:txBody>
          <a:bodyPr wrap="square" lIns="0" tIns="0" rIns="0" bIns="0" rtlCol="0" anchor="ctr"/>
          <a:lstStyle/>
          <a:p>
            <a:pPr algn="ctr" indent="0" marL="0">
              <a:buNone/>
            </a:pPr>
            <a:r>
              <a:rPr lang="en-US" sz="800" b="1" dirty="0">
                <a:solidFill>
                  <a:srgbClr val="F7F4EC"/>
                </a:solidFill>
                <a:latin typeface="Arial" pitchFamily="34" charset="0"/>
                <a:ea typeface="Arial" pitchFamily="34" charset="-122"/>
                <a:cs typeface="Arial" pitchFamily="34" charset="-120"/>
              </a:rPr>
              <a:t>FRANÇAIS / ENGLISH</a:t>
            </a:r>
            <a:endParaRPr lang="en-US" sz="800" dirty="0"/>
          </a:p>
        </p:txBody>
      </p:sp>
      <p:sp>
        <p:nvSpPr>
          <p:cNvPr id="12" name="Shape 9"/>
          <p:cNvSpPr/>
          <p:nvPr/>
        </p:nvSpPr>
        <p:spPr>
          <a:xfrm>
            <a:off x="2487168" y="4892040"/>
            <a:ext cx="941832" cy="310896"/>
          </a:xfrm>
          <a:prstGeom prst="roundRect">
            <a:avLst>
              <a:gd name="adj" fmla="val 14706"/>
            </a:avLst>
          </a:prstGeom>
          <a:solidFill>
            <a:srgbClr val="252A22"/>
          </a:solidFill>
          <a:ln w="10160">
            <a:solidFill>
              <a:srgbClr val="383C32"/>
            </a:solidFill>
            <a:prstDash val="solid"/>
          </a:ln>
        </p:spPr>
      </p:sp>
      <p:sp>
        <p:nvSpPr>
          <p:cNvPr id="13" name="Text 10"/>
          <p:cNvSpPr/>
          <p:nvPr/>
        </p:nvSpPr>
        <p:spPr>
          <a:xfrm>
            <a:off x="2578608" y="4910328"/>
            <a:ext cx="758952" cy="265176"/>
          </a:xfrm>
          <a:prstGeom prst="rect">
            <a:avLst/>
          </a:prstGeom>
          <a:noFill/>
          <a:ln/>
        </p:spPr>
        <p:txBody>
          <a:bodyPr wrap="square" lIns="0" tIns="0" rIns="0" bIns="0" rtlCol="0" anchor="ctr"/>
          <a:lstStyle/>
          <a:p>
            <a:pPr algn="ctr" indent="0" marL="0">
              <a:buNone/>
            </a:pPr>
            <a:r>
              <a:rPr lang="en-US" sz="800" b="1" dirty="0">
                <a:solidFill>
                  <a:srgbClr val="F7F4EC"/>
                </a:solidFill>
                <a:latin typeface="Arial" pitchFamily="34" charset="0"/>
                <a:ea typeface="Arial" pitchFamily="34" charset="-122"/>
                <a:cs typeface="Arial" pitchFamily="34" charset="-120"/>
              </a:rPr>
              <a:t>MOBILE</a:t>
            </a:r>
            <a:endParaRPr lang="en-US" sz="800" dirty="0"/>
          </a:p>
        </p:txBody>
      </p:sp>
      <p:sp>
        <p:nvSpPr>
          <p:cNvPr id="14" name="Shape 11"/>
          <p:cNvSpPr/>
          <p:nvPr/>
        </p:nvSpPr>
        <p:spPr>
          <a:xfrm>
            <a:off x="3566160" y="4892040"/>
            <a:ext cx="1417320" cy="310896"/>
          </a:xfrm>
          <a:prstGeom prst="roundRect">
            <a:avLst>
              <a:gd name="adj" fmla="val 14706"/>
            </a:avLst>
          </a:prstGeom>
          <a:solidFill>
            <a:srgbClr val="252A22"/>
          </a:solidFill>
          <a:ln w="10160">
            <a:solidFill>
              <a:srgbClr val="383C32"/>
            </a:solidFill>
            <a:prstDash val="solid"/>
          </a:ln>
        </p:spPr>
      </p:sp>
      <p:sp>
        <p:nvSpPr>
          <p:cNvPr id="15" name="Text 12"/>
          <p:cNvSpPr/>
          <p:nvPr/>
        </p:nvSpPr>
        <p:spPr>
          <a:xfrm>
            <a:off x="3657600" y="4910328"/>
            <a:ext cx="1234440" cy="265176"/>
          </a:xfrm>
          <a:prstGeom prst="rect">
            <a:avLst/>
          </a:prstGeom>
          <a:noFill/>
          <a:ln/>
        </p:spPr>
        <p:txBody>
          <a:bodyPr wrap="square" lIns="0" tIns="0" rIns="0" bIns="0" rtlCol="0" anchor="ctr"/>
          <a:lstStyle/>
          <a:p>
            <a:pPr algn="ctr" indent="0" marL="0">
              <a:buNone/>
            </a:pPr>
            <a:r>
              <a:rPr lang="en-US" sz="800" b="1" dirty="0">
                <a:solidFill>
                  <a:srgbClr val="F7F4EC"/>
                </a:solidFill>
                <a:latin typeface="Arial" pitchFamily="34" charset="0"/>
                <a:ea typeface="Arial" pitchFamily="34" charset="-122"/>
                <a:cs typeface="Arial" pitchFamily="34" charset="-120"/>
              </a:rPr>
              <a:t>VENTE DIRECTE</a:t>
            </a:r>
            <a:endParaRPr lang="en-US" sz="800" dirty="0"/>
          </a:p>
        </p:txBody>
      </p:sp>
      <p:sp>
        <p:nvSpPr>
          <p:cNvPr id="16" name="Text 13"/>
          <p:cNvSpPr/>
          <p:nvPr/>
        </p:nvSpPr>
        <p:spPr>
          <a:xfrm>
            <a:off x="658368" y="6089904"/>
            <a:ext cx="5486400" cy="237744"/>
          </a:xfrm>
          <a:prstGeom prst="rect">
            <a:avLst/>
          </a:prstGeom>
          <a:noFill/>
          <a:ln/>
        </p:spPr>
        <p:txBody>
          <a:bodyPr wrap="square" lIns="0" tIns="0" rIns="0" bIns="0" rtlCol="0" anchor="ctr"/>
          <a:lstStyle/>
          <a:p>
            <a:pPr indent="0" marL="0">
              <a:buNone/>
            </a:pPr>
            <a:r>
              <a:rPr lang="en-US" sz="900" dirty="0">
                <a:solidFill>
                  <a:srgbClr val="B8B3A6"/>
                </a:solidFill>
                <a:latin typeface="Arial" pitchFamily="34" charset="0"/>
                <a:ea typeface="Arial" pitchFamily="34" charset="-122"/>
                <a:cs typeface="Arial" pitchFamily="34" charset="-120"/>
              </a:rPr>
              <a:t>Domaine Christophe Patrice · Beine · Chablis</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EFE6"/>
        </a:solidFill>
      </p:bgPr>
    </p:bg>
    <p:spTree>
      <p:nvGrpSpPr>
        <p:cNvPr id="1" name=""/>
        <p:cNvGrpSpPr/>
        <p:nvPr/>
      </p:nvGrpSpPr>
      <p:grpSpPr>
        <a:xfrm>
          <a:off x="0" y="0"/>
          <a:ext cx="0" cy="0"/>
          <a:chOff x="0" y="0"/>
          <a:chExt cx="0" cy="0"/>
        </a:xfrm>
      </p:grpSpPr>
      <p:sp>
        <p:nvSpPr>
          <p:cNvPr id="2" name="Shape 0"/>
          <p:cNvSpPr/>
          <p:nvPr/>
        </p:nvSpPr>
        <p:spPr>
          <a:xfrm>
            <a:off x="658368" y="516636"/>
            <a:ext cx="256032" cy="0"/>
          </a:xfrm>
          <a:prstGeom prst="line">
            <a:avLst/>
          </a:prstGeom>
          <a:noFill/>
          <a:ln w="16510">
            <a:solidFill>
              <a:srgbClr val="2F7057"/>
            </a:solidFill>
            <a:prstDash val="solid"/>
          </a:ln>
        </p:spPr>
      </p:sp>
      <p:sp>
        <p:nvSpPr>
          <p:cNvPr id="3" name="Text 1"/>
          <p:cNvSpPr/>
          <p:nvPr/>
        </p:nvSpPr>
        <p:spPr>
          <a:xfrm>
            <a:off x="1042416" y="420624"/>
            <a:ext cx="4297680" cy="219456"/>
          </a:xfrm>
          <a:prstGeom prst="rect">
            <a:avLst/>
          </a:prstGeom>
          <a:noFill/>
          <a:ln/>
        </p:spPr>
        <p:txBody>
          <a:bodyPr wrap="square" lIns="0" tIns="0" rIns="0" bIns="0" rtlCol="0" anchor="ctr"/>
          <a:lstStyle/>
          <a:p>
            <a:pPr indent="0" marL="0">
              <a:buNone/>
            </a:pPr>
            <a:r>
              <a:rPr lang="en-US" sz="850" b="1" spc="180" kern="0" dirty="0">
                <a:solidFill>
                  <a:srgbClr val="2F7057"/>
                </a:solidFill>
                <a:latin typeface="Arial" pitchFamily="34" charset="0"/>
                <a:ea typeface="Arial" pitchFamily="34" charset="-122"/>
                <a:cs typeface="Arial" pitchFamily="34" charset="-120"/>
              </a:rPr>
              <a:t>DOMAINE CHRISTOPHE PATRICE</a:t>
            </a:r>
            <a:endParaRPr lang="en-US" sz="850" dirty="0"/>
          </a:p>
        </p:txBody>
      </p:sp>
      <p:sp>
        <p:nvSpPr>
          <p:cNvPr id="4" name="Text 2"/>
          <p:cNvSpPr/>
          <p:nvPr/>
        </p:nvSpPr>
        <p:spPr>
          <a:xfrm>
            <a:off x="658368" y="786384"/>
            <a:ext cx="10881360" cy="566928"/>
          </a:xfrm>
          <a:prstGeom prst="rect">
            <a:avLst/>
          </a:prstGeom>
          <a:noFill/>
          <a:ln/>
        </p:spPr>
        <p:txBody>
          <a:bodyPr wrap="square" lIns="0" tIns="0" rIns="0" bIns="0" rtlCol="0" anchor="t"/>
          <a:lstStyle/>
          <a:p>
            <a:pPr indent="0" marL="0">
              <a:buNone/>
            </a:pPr>
            <a:r>
              <a:rPr lang="en-US" sz="2600" b="1" dirty="0">
                <a:solidFill>
                  <a:srgbClr val="20231E"/>
                </a:solidFill>
                <a:latin typeface="Georgia" pitchFamily="34" charset="0"/>
                <a:ea typeface="Georgia" pitchFamily="34" charset="-122"/>
                <a:cs typeface="Georgia" pitchFamily="34" charset="-120"/>
              </a:rPr>
              <a:t>Même domaine. Une perception entièrement différente.</a:t>
            </a:r>
            <a:endParaRPr lang="en-US" sz="2600" dirty="0"/>
          </a:p>
        </p:txBody>
      </p:sp>
      <p:sp>
        <p:nvSpPr>
          <p:cNvPr id="5" name="Text 3"/>
          <p:cNvSpPr/>
          <p:nvPr/>
        </p:nvSpPr>
        <p:spPr>
          <a:xfrm>
            <a:off x="658368" y="1389888"/>
            <a:ext cx="10424160" cy="347472"/>
          </a:xfrm>
          <a:prstGeom prst="rect">
            <a:avLst/>
          </a:prstGeom>
          <a:noFill/>
          <a:ln/>
        </p:spPr>
        <p:txBody>
          <a:bodyPr wrap="square" lIns="0" tIns="0" rIns="0" bIns="0" rtlCol="0" anchor="t"/>
          <a:lstStyle/>
          <a:p>
            <a:pPr indent="0" marL="0">
              <a:buNone/>
            </a:pPr>
            <a:r>
              <a:rPr lang="en-US" sz="1150" dirty="0">
                <a:solidFill>
                  <a:srgbClr val="5A5E55"/>
                </a:solidFill>
                <a:latin typeface="Arial" pitchFamily="34" charset="0"/>
                <a:ea typeface="Arial" pitchFamily="34" charset="-122"/>
                <a:cs typeface="Arial" pitchFamily="34" charset="-120"/>
              </a:rPr>
              <a:t>Le contenu existe déjà ; la nouvelle version lui donne une hiérarchie, une identité et un véritable parcours.</a:t>
            </a:r>
            <a:endParaRPr lang="en-US" sz="1150" dirty="0"/>
          </a:p>
        </p:txBody>
      </p:sp>
      <p:sp>
        <p:nvSpPr>
          <p:cNvPr id="6" name="Text 4"/>
          <p:cNvSpPr/>
          <p:nvPr/>
        </p:nvSpPr>
        <p:spPr>
          <a:xfrm>
            <a:off x="658368" y="1856232"/>
            <a:ext cx="1828800" cy="219456"/>
          </a:xfrm>
          <a:prstGeom prst="rect">
            <a:avLst/>
          </a:prstGeom>
          <a:noFill/>
          <a:ln/>
        </p:spPr>
        <p:txBody>
          <a:bodyPr wrap="square" lIns="0" tIns="0" rIns="0" bIns="0" rtlCol="0" anchor="ctr"/>
          <a:lstStyle/>
          <a:p>
            <a:pPr indent="0" marL="0">
              <a:buNone/>
            </a:pPr>
            <a:r>
              <a:rPr lang="en-US" sz="850" b="1" spc="150" kern="0" dirty="0">
                <a:solidFill>
                  <a:srgbClr val="5A5E55"/>
                </a:solidFill>
                <a:latin typeface="Arial" pitchFamily="34" charset="0"/>
                <a:ea typeface="Arial" pitchFamily="34" charset="-122"/>
                <a:cs typeface="Arial" pitchFamily="34" charset="-120"/>
              </a:rPr>
              <a:t>AUJOURD'HUI</a:t>
            </a:r>
            <a:endParaRPr lang="en-US" sz="850" dirty="0"/>
          </a:p>
        </p:txBody>
      </p:sp>
      <p:sp>
        <p:nvSpPr>
          <p:cNvPr id="7" name="Text 5"/>
          <p:cNvSpPr/>
          <p:nvPr/>
        </p:nvSpPr>
        <p:spPr>
          <a:xfrm>
            <a:off x="6291072" y="1856232"/>
            <a:ext cx="2560320" cy="219456"/>
          </a:xfrm>
          <a:prstGeom prst="rect">
            <a:avLst/>
          </a:prstGeom>
          <a:noFill/>
          <a:ln/>
        </p:spPr>
        <p:txBody>
          <a:bodyPr wrap="square" lIns="0" tIns="0" rIns="0" bIns="0" rtlCol="0" anchor="ctr"/>
          <a:lstStyle/>
          <a:p>
            <a:pPr indent="0" marL="0">
              <a:buNone/>
            </a:pPr>
            <a:r>
              <a:rPr lang="en-US" sz="850" b="1" spc="150" kern="0" dirty="0">
                <a:solidFill>
                  <a:srgbClr val="2F7057"/>
                </a:solidFill>
                <a:latin typeface="Arial" pitchFamily="34" charset="0"/>
                <a:ea typeface="Arial" pitchFamily="34" charset="-122"/>
                <a:cs typeface="Arial" pitchFamily="34" charset="-120"/>
              </a:rPr>
              <a:t>NOUVELLE PROPOSITION</a:t>
            </a:r>
            <a:endParaRPr lang="en-US" sz="850" dirty="0"/>
          </a:p>
        </p:txBody>
      </p:sp>
      <p:sp>
        <p:nvSpPr>
          <p:cNvPr id="8" name="Shape 6"/>
          <p:cNvSpPr/>
          <p:nvPr/>
        </p:nvSpPr>
        <p:spPr>
          <a:xfrm>
            <a:off x="640080" y="2148840"/>
            <a:ext cx="5285232" cy="3401568"/>
          </a:xfrm>
          <a:prstGeom prst="rect">
            <a:avLst/>
          </a:prstGeom>
          <a:solidFill>
            <a:srgbClr val="3A4657"/>
          </a:solidFill>
          <a:ln w="10160">
            <a:solidFill>
              <a:srgbClr val="CEC8BA"/>
            </a:solidFill>
            <a:prstDash val="solid"/>
          </a:ln>
          <a:effectLst>
            <a:outerShdw sx="100000" sy="100000" kx="0" ky="0" algn="bl" rotWithShape="0" blurRad="19050" dist="50800" dir="2700000">
              <a:srgbClr val="000000">
                <a:alpha val="12000"/>
              </a:srgbClr>
            </a:outerShdw>
          </a:effectLst>
        </p:spPr>
      </p:sp>
      <p:pic>
        <p:nvPicPr>
          <p:cNvPr id="9" name="Image 0" descr="Capture du site actuel du Domaine Christophe Patrice">    </p:cNvPr>
          <p:cNvPicPr>
            <a:picLocks noChangeAspect="1"/>
          </p:cNvPicPr>
          <p:nvPr/>
        </p:nvPicPr>
        <p:blipFill>
          <a:blip r:embed="rId1"/>
          <a:srcRect l="0" r="0" t="0" b="0"/>
          <a:stretch/>
        </p:blipFill>
        <p:spPr>
          <a:xfrm>
            <a:off x="713232" y="2221992"/>
            <a:ext cx="5138928" cy="3255264"/>
          </a:xfrm>
          <a:prstGeom prst="rect">
            <a:avLst/>
          </a:prstGeom>
        </p:spPr>
      </p:pic>
      <p:sp>
        <p:nvSpPr>
          <p:cNvPr id="10" name="Shape 7"/>
          <p:cNvSpPr/>
          <p:nvPr/>
        </p:nvSpPr>
        <p:spPr>
          <a:xfrm>
            <a:off x="6272784" y="2148840"/>
            <a:ext cx="5285232" cy="3401568"/>
          </a:xfrm>
          <a:prstGeom prst="rect">
            <a:avLst/>
          </a:prstGeom>
          <a:solidFill>
            <a:srgbClr val="171A15"/>
          </a:solidFill>
          <a:ln w="13970">
            <a:solidFill>
              <a:srgbClr val="2F7057"/>
            </a:solidFill>
            <a:prstDash val="solid"/>
          </a:ln>
          <a:effectLst>
            <a:outerShdw sx="100000" sy="100000" kx="0" ky="0" algn="bl" rotWithShape="0" blurRad="19050" dist="50800" dir="2700000">
              <a:srgbClr val="000000">
                <a:alpha val="12000"/>
              </a:srgbClr>
            </a:outerShdw>
          </a:effectLst>
        </p:spPr>
      </p:sp>
      <p:pic>
        <p:nvPicPr>
          <p:cNvPr id="11" name="Image 1" descr="Capture de la nouvelle page d'accueil proposée">    </p:cNvPr>
          <p:cNvPicPr>
            <a:picLocks noChangeAspect="1"/>
          </p:cNvPicPr>
          <p:nvPr/>
        </p:nvPicPr>
        <p:blipFill>
          <a:blip r:embed="rId2"/>
          <a:srcRect l="0" r="0" t="0" b="0"/>
          <a:stretch/>
        </p:blipFill>
        <p:spPr>
          <a:xfrm>
            <a:off x="6345936" y="2221992"/>
            <a:ext cx="5138928" cy="3255264"/>
          </a:xfrm>
          <a:prstGeom prst="rect">
            <a:avLst/>
          </a:prstGeom>
        </p:spPr>
      </p:pic>
      <p:sp>
        <p:nvSpPr>
          <p:cNvPr id="12" name="Text 8"/>
          <p:cNvSpPr/>
          <p:nvPr/>
        </p:nvSpPr>
        <p:spPr>
          <a:xfrm>
            <a:off x="713232" y="5715000"/>
            <a:ext cx="2286000" cy="182880"/>
          </a:xfrm>
          <a:prstGeom prst="rect">
            <a:avLst/>
          </a:prstGeom>
          <a:noFill/>
          <a:ln/>
        </p:spPr>
        <p:txBody>
          <a:bodyPr wrap="square" lIns="0" tIns="0" rIns="0" bIns="0" rtlCol="0" anchor="ctr"/>
          <a:lstStyle/>
          <a:p>
            <a:pPr indent="0" marL="0">
              <a:buNone/>
            </a:pPr>
            <a:r>
              <a:rPr lang="en-US" sz="850" dirty="0">
                <a:solidFill>
                  <a:srgbClr val="5A5E55"/>
                </a:solidFill>
                <a:latin typeface="Arial" pitchFamily="34" charset="0"/>
                <a:ea typeface="Arial" pitchFamily="34" charset="-122"/>
                <a:cs typeface="Arial" pitchFamily="34" charset="-120"/>
              </a:rPr>
              <a:t>Modèle générique</a:t>
            </a:r>
            <a:endParaRPr lang="en-US" sz="850" dirty="0"/>
          </a:p>
        </p:txBody>
      </p:sp>
      <p:sp>
        <p:nvSpPr>
          <p:cNvPr id="13" name="Text 9"/>
          <p:cNvSpPr/>
          <p:nvPr/>
        </p:nvSpPr>
        <p:spPr>
          <a:xfrm>
            <a:off x="2761488" y="5715000"/>
            <a:ext cx="365760" cy="182880"/>
          </a:xfrm>
          <a:prstGeom prst="rect">
            <a:avLst/>
          </a:prstGeom>
          <a:noFill/>
          <a:ln/>
        </p:spPr>
        <p:txBody>
          <a:bodyPr wrap="square" lIns="0" tIns="0" rIns="0" bIns="0" rtlCol="0" anchor="ctr"/>
          <a:lstStyle/>
          <a:p>
            <a:pPr algn="ctr" indent="0" marL="0">
              <a:buNone/>
            </a:pPr>
            <a:r>
              <a:rPr lang="en-US" sz="900" dirty="0">
                <a:solidFill>
                  <a:srgbClr val="CEC8BA"/>
                </a:solidFill>
                <a:latin typeface="Arial" pitchFamily="34" charset="0"/>
                <a:ea typeface="Arial" pitchFamily="34" charset="-122"/>
                <a:cs typeface="Arial" pitchFamily="34" charset="-120"/>
              </a:rPr>
              <a:t>→</a:t>
            </a:r>
            <a:endParaRPr lang="en-US" sz="900" dirty="0"/>
          </a:p>
        </p:txBody>
      </p:sp>
      <p:sp>
        <p:nvSpPr>
          <p:cNvPr id="14" name="Text 10"/>
          <p:cNvSpPr/>
          <p:nvPr/>
        </p:nvSpPr>
        <p:spPr>
          <a:xfrm>
            <a:off x="3246120" y="5715000"/>
            <a:ext cx="2194560" cy="182880"/>
          </a:xfrm>
          <a:prstGeom prst="rect">
            <a:avLst/>
          </a:prstGeom>
          <a:noFill/>
          <a:ln/>
        </p:spPr>
        <p:txBody>
          <a:bodyPr wrap="square" lIns="0" tIns="0" rIns="0" bIns="0" rtlCol="0" anchor="ctr"/>
          <a:lstStyle/>
          <a:p>
            <a:pPr indent="0" marL="0">
              <a:buNone/>
            </a:pPr>
            <a:r>
              <a:rPr lang="en-US" sz="850" b="1" dirty="0">
                <a:solidFill>
                  <a:srgbClr val="2F7057"/>
                </a:solidFill>
                <a:latin typeface="Arial" pitchFamily="34" charset="0"/>
                <a:ea typeface="Arial" pitchFamily="34" charset="-122"/>
                <a:cs typeface="Arial" pitchFamily="34" charset="-120"/>
              </a:rPr>
              <a:t>Identité propre</a:t>
            </a:r>
            <a:endParaRPr lang="en-US" sz="850" dirty="0"/>
          </a:p>
        </p:txBody>
      </p:sp>
      <p:sp>
        <p:nvSpPr>
          <p:cNvPr id="15" name="Text 11"/>
          <p:cNvSpPr/>
          <p:nvPr/>
        </p:nvSpPr>
        <p:spPr>
          <a:xfrm>
            <a:off x="713232" y="5943600"/>
            <a:ext cx="2286000" cy="182880"/>
          </a:xfrm>
          <a:prstGeom prst="rect">
            <a:avLst/>
          </a:prstGeom>
          <a:noFill/>
          <a:ln/>
        </p:spPr>
        <p:txBody>
          <a:bodyPr wrap="square" lIns="0" tIns="0" rIns="0" bIns="0" rtlCol="0" anchor="ctr"/>
          <a:lstStyle/>
          <a:p>
            <a:pPr indent="0" marL="0">
              <a:buNone/>
            </a:pPr>
            <a:r>
              <a:rPr lang="en-US" sz="850" dirty="0">
                <a:solidFill>
                  <a:srgbClr val="5A5E55"/>
                </a:solidFill>
                <a:latin typeface="Arial" pitchFamily="34" charset="0"/>
                <a:ea typeface="Arial" pitchFamily="34" charset="-122"/>
                <a:cs typeface="Arial" pitchFamily="34" charset="-120"/>
              </a:rPr>
              <a:t>Information dispersée</a:t>
            </a:r>
            <a:endParaRPr lang="en-US" sz="850" dirty="0"/>
          </a:p>
        </p:txBody>
      </p:sp>
      <p:sp>
        <p:nvSpPr>
          <p:cNvPr id="16" name="Text 12"/>
          <p:cNvSpPr/>
          <p:nvPr/>
        </p:nvSpPr>
        <p:spPr>
          <a:xfrm>
            <a:off x="2761488" y="5943600"/>
            <a:ext cx="365760" cy="182880"/>
          </a:xfrm>
          <a:prstGeom prst="rect">
            <a:avLst/>
          </a:prstGeom>
          <a:noFill/>
          <a:ln/>
        </p:spPr>
        <p:txBody>
          <a:bodyPr wrap="square" lIns="0" tIns="0" rIns="0" bIns="0" rtlCol="0" anchor="ctr"/>
          <a:lstStyle/>
          <a:p>
            <a:pPr algn="ctr" indent="0" marL="0">
              <a:buNone/>
            </a:pPr>
            <a:r>
              <a:rPr lang="en-US" sz="900" dirty="0">
                <a:solidFill>
                  <a:srgbClr val="CEC8BA"/>
                </a:solidFill>
                <a:latin typeface="Arial" pitchFamily="34" charset="0"/>
                <a:ea typeface="Arial" pitchFamily="34" charset="-122"/>
                <a:cs typeface="Arial" pitchFamily="34" charset="-120"/>
              </a:rPr>
              <a:t>→</a:t>
            </a:r>
            <a:endParaRPr lang="en-US" sz="900" dirty="0"/>
          </a:p>
        </p:txBody>
      </p:sp>
      <p:sp>
        <p:nvSpPr>
          <p:cNvPr id="17" name="Text 13"/>
          <p:cNvSpPr/>
          <p:nvPr/>
        </p:nvSpPr>
        <p:spPr>
          <a:xfrm>
            <a:off x="3246120" y="5943600"/>
            <a:ext cx="2194560" cy="182880"/>
          </a:xfrm>
          <a:prstGeom prst="rect">
            <a:avLst/>
          </a:prstGeom>
          <a:noFill/>
          <a:ln/>
        </p:spPr>
        <p:txBody>
          <a:bodyPr wrap="square" lIns="0" tIns="0" rIns="0" bIns="0" rtlCol="0" anchor="ctr"/>
          <a:lstStyle/>
          <a:p>
            <a:pPr indent="0" marL="0">
              <a:buNone/>
            </a:pPr>
            <a:r>
              <a:rPr lang="en-US" sz="850" b="1" dirty="0">
                <a:solidFill>
                  <a:srgbClr val="2F7057"/>
                </a:solidFill>
                <a:latin typeface="Arial" pitchFamily="34" charset="0"/>
                <a:ea typeface="Arial" pitchFamily="34" charset="-122"/>
                <a:cs typeface="Arial" pitchFamily="34" charset="-120"/>
              </a:rPr>
              <a:t>Récit structuré</a:t>
            </a:r>
            <a:endParaRPr lang="en-US" sz="850" dirty="0"/>
          </a:p>
        </p:txBody>
      </p:sp>
      <p:sp>
        <p:nvSpPr>
          <p:cNvPr id="18" name="Text 14"/>
          <p:cNvSpPr/>
          <p:nvPr/>
        </p:nvSpPr>
        <p:spPr>
          <a:xfrm>
            <a:off x="713232" y="6172200"/>
            <a:ext cx="2286000" cy="182880"/>
          </a:xfrm>
          <a:prstGeom prst="rect">
            <a:avLst/>
          </a:prstGeom>
          <a:noFill/>
          <a:ln/>
        </p:spPr>
        <p:txBody>
          <a:bodyPr wrap="square" lIns="0" tIns="0" rIns="0" bIns="0" rtlCol="0" anchor="ctr"/>
          <a:lstStyle/>
          <a:p>
            <a:pPr indent="0" marL="0">
              <a:buNone/>
            </a:pPr>
            <a:r>
              <a:rPr lang="en-US" sz="850" dirty="0">
                <a:solidFill>
                  <a:srgbClr val="5A5E55"/>
                </a:solidFill>
                <a:latin typeface="Arial" pitchFamily="34" charset="0"/>
                <a:ea typeface="Arial" pitchFamily="34" charset="-122"/>
                <a:cs typeface="Arial" pitchFamily="34" charset="-120"/>
              </a:rPr>
              <a:t>Expérience mobile limitée</a:t>
            </a:r>
            <a:endParaRPr lang="en-US" sz="850" dirty="0"/>
          </a:p>
        </p:txBody>
      </p:sp>
      <p:sp>
        <p:nvSpPr>
          <p:cNvPr id="19" name="Text 15"/>
          <p:cNvSpPr/>
          <p:nvPr/>
        </p:nvSpPr>
        <p:spPr>
          <a:xfrm>
            <a:off x="2761488" y="6172200"/>
            <a:ext cx="365760" cy="182880"/>
          </a:xfrm>
          <a:prstGeom prst="rect">
            <a:avLst/>
          </a:prstGeom>
          <a:noFill/>
          <a:ln/>
        </p:spPr>
        <p:txBody>
          <a:bodyPr wrap="square" lIns="0" tIns="0" rIns="0" bIns="0" rtlCol="0" anchor="ctr"/>
          <a:lstStyle/>
          <a:p>
            <a:pPr algn="ctr" indent="0" marL="0">
              <a:buNone/>
            </a:pPr>
            <a:r>
              <a:rPr lang="en-US" sz="900" dirty="0">
                <a:solidFill>
                  <a:srgbClr val="CEC8BA"/>
                </a:solidFill>
                <a:latin typeface="Arial" pitchFamily="34" charset="0"/>
                <a:ea typeface="Arial" pitchFamily="34" charset="-122"/>
                <a:cs typeface="Arial" pitchFamily="34" charset="-120"/>
              </a:rPr>
              <a:t>→</a:t>
            </a:r>
            <a:endParaRPr lang="en-US" sz="900" dirty="0"/>
          </a:p>
        </p:txBody>
      </p:sp>
      <p:sp>
        <p:nvSpPr>
          <p:cNvPr id="20" name="Text 16"/>
          <p:cNvSpPr/>
          <p:nvPr/>
        </p:nvSpPr>
        <p:spPr>
          <a:xfrm>
            <a:off x="3246120" y="6172200"/>
            <a:ext cx="2194560" cy="182880"/>
          </a:xfrm>
          <a:prstGeom prst="rect">
            <a:avLst/>
          </a:prstGeom>
          <a:noFill/>
          <a:ln/>
        </p:spPr>
        <p:txBody>
          <a:bodyPr wrap="square" lIns="0" tIns="0" rIns="0" bIns="0" rtlCol="0" anchor="ctr"/>
          <a:lstStyle/>
          <a:p>
            <a:pPr indent="0" marL="0">
              <a:buNone/>
            </a:pPr>
            <a:r>
              <a:rPr lang="en-US" sz="850" b="1" dirty="0">
                <a:solidFill>
                  <a:srgbClr val="2F7057"/>
                </a:solidFill>
                <a:latin typeface="Arial" pitchFamily="34" charset="0"/>
                <a:ea typeface="Arial" pitchFamily="34" charset="-122"/>
                <a:cs typeface="Arial" pitchFamily="34" charset="-120"/>
              </a:rPr>
              <a:t>Parcours mobile fluide</a:t>
            </a:r>
            <a:endParaRPr lang="en-US" sz="850" dirty="0"/>
          </a:p>
        </p:txBody>
      </p:sp>
      <p:sp>
        <p:nvSpPr>
          <p:cNvPr id="21" name="Text 17"/>
          <p:cNvSpPr/>
          <p:nvPr/>
        </p:nvSpPr>
        <p:spPr>
          <a:xfrm>
            <a:off x="6345936" y="5797296"/>
            <a:ext cx="4983480" cy="411480"/>
          </a:xfrm>
          <a:prstGeom prst="rect">
            <a:avLst/>
          </a:prstGeom>
          <a:noFill/>
          <a:ln/>
        </p:spPr>
        <p:txBody>
          <a:bodyPr wrap="square" lIns="0" tIns="0" rIns="0" bIns="0" rtlCol="0" anchor="ctr"/>
          <a:lstStyle/>
          <a:p>
            <a:pPr indent="0" marL="0">
              <a:buNone/>
            </a:pPr>
            <a:r>
              <a:rPr lang="en-US" sz="1500" i="1" dirty="0">
                <a:solidFill>
                  <a:srgbClr val="20231E"/>
                </a:solidFill>
                <a:latin typeface="Georgia" pitchFamily="34" charset="0"/>
                <a:ea typeface="Georgia" pitchFamily="34" charset="-122"/>
                <a:cs typeface="Georgia" pitchFamily="34" charset="-120"/>
              </a:rPr>
              <a:t>Une évolution d’image, sans renier l’histoire du domaine.</a:t>
            </a:r>
            <a:endParaRPr lang="en-US" sz="1500" dirty="0"/>
          </a:p>
        </p:txBody>
      </p:sp>
      <p:sp>
        <p:nvSpPr>
          <p:cNvPr id="22" name="Shape 18"/>
          <p:cNvSpPr/>
          <p:nvPr/>
        </p:nvSpPr>
        <p:spPr>
          <a:xfrm>
            <a:off x="658368" y="6528816"/>
            <a:ext cx="10863072" cy="0"/>
          </a:xfrm>
          <a:prstGeom prst="line">
            <a:avLst/>
          </a:prstGeom>
          <a:noFill/>
          <a:ln w="8890">
            <a:solidFill>
              <a:srgbClr val="CEC8BA"/>
            </a:solidFill>
            <a:prstDash val="solid"/>
          </a:ln>
        </p:spPr>
      </p:sp>
      <p:sp>
        <p:nvSpPr>
          <p:cNvPr id="23" name="Text 19"/>
          <p:cNvSpPr/>
          <p:nvPr/>
        </p:nvSpPr>
        <p:spPr>
          <a:xfrm>
            <a:off x="658368" y="6574536"/>
            <a:ext cx="9966960" cy="146304"/>
          </a:xfrm>
          <a:prstGeom prst="rect">
            <a:avLst/>
          </a:prstGeom>
          <a:noFill/>
          <a:ln/>
        </p:spPr>
        <p:txBody>
          <a:bodyPr wrap="square" lIns="0" tIns="0" rIns="0" bIns="0" rtlCol="0" anchor="t"/>
          <a:lstStyle/>
          <a:p>
            <a:pPr indent="0" marL="0">
              <a:buNone/>
            </a:pPr>
            <a:r>
              <a:rPr lang="en-US" sz="640" dirty="0">
                <a:solidFill>
                  <a:srgbClr val="5A5E55"/>
                </a:solidFill>
                <a:latin typeface="Arial" pitchFamily="34" charset="0"/>
                <a:ea typeface="Arial" pitchFamily="34" charset="-122"/>
                <a:cs typeface="Arial" pitchFamily="34" charset="-120"/>
              </a:rPr>
              <a:t>Captures réalisées le 27 juillet 2026 · Site actuel et prototype fonctionnel.</a:t>
            </a:r>
            <a:endParaRPr lang="en-US" sz="640" dirty="0"/>
          </a:p>
        </p:txBody>
      </p:sp>
      <p:sp>
        <p:nvSpPr>
          <p:cNvPr id="24" name="Text 20"/>
          <p:cNvSpPr/>
          <p:nvPr/>
        </p:nvSpPr>
        <p:spPr>
          <a:xfrm>
            <a:off x="11045952" y="6556248"/>
            <a:ext cx="475488" cy="164592"/>
          </a:xfrm>
          <a:prstGeom prst="rect">
            <a:avLst/>
          </a:prstGeom>
          <a:noFill/>
          <a:ln/>
        </p:spPr>
        <p:txBody>
          <a:bodyPr wrap="square" lIns="0" tIns="0" rIns="0" bIns="0" rtlCol="0" anchor="ctr"/>
          <a:lstStyle/>
          <a:p>
            <a:pPr algn="r" indent="0" marL="0">
              <a:buNone/>
            </a:pPr>
            <a:r>
              <a:rPr lang="en-US" sz="750" b="1" dirty="0">
                <a:solidFill>
                  <a:srgbClr val="2F7057"/>
                </a:solidFill>
                <a:latin typeface="Arial" pitchFamily="34" charset="0"/>
                <a:ea typeface="Arial" pitchFamily="34" charset="-122"/>
                <a:cs typeface="Arial" pitchFamily="34" charset="-120"/>
              </a:rPr>
              <a:t>02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EFE6"/>
        </a:solidFill>
      </p:bgPr>
    </p:bg>
    <p:spTree>
      <p:nvGrpSpPr>
        <p:cNvPr id="1" name=""/>
        <p:cNvGrpSpPr/>
        <p:nvPr/>
      </p:nvGrpSpPr>
      <p:grpSpPr>
        <a:xfrm>
          <a:off x="0" y="0"/>
          <a:ext cx="0" cy="0"/>
          <a:chOff x="0" y="0"/>
          <a:chExt cx="0" cy="0"/>
        </a:xfrm>
      </p:grpSpPr>
      <p:sp>
        <p:nvSpPr>
          <p:cNvPr id="2" name="Shape 0"/>
          <p:cNvSpPr/>
          <p:nvPr/>
        </p:nvSpPr>
        <p:spPr>
          <a:xfrm>
            <a:off x="658368" y="516636"/>
            <a:ext cx="256032" cy="0"/>
          </a:xfrm>
          <a:prstGeom prst="line">
            <a:avLst/>
          </a:prstGeom>
          <a:noFill/>
          <a:ln w="16510">
            <a:solidFill>
              <a:srgbClr val="2F7057"/>
            </a:solidFill>
            <a:prstDash val="solid"/>
          </a:ln>
        </p:spPr>
      </p:sp>
      <p:sp>
        <p:nvSpPr>
          <p:cNvPr id="3" name="Text 1"/>
          <p:cNvSpPr/>
          <p:nvPr/>
        </p:nvSpPr>
        <p:spPr>
          <a:xfrm>
            <a:off x="1042416" y="420624"/>
            <a:ext cx="4297680" cy="219456"/>
          </a:xfrm>
          <a:prstGeom prst="rect">
            <a:avLst/>
          </a:prstGeom>
          <a:noFill/>
          <a:ln/>
        </p:spPr>
        <p:txBody>
          <a:bodyPr wrap="square" lIns="0" tIns="0" rIns="0" bIns="0" rtlCol="0" anchor="ctr"/>
          <a:lstStyle/>
          <a:p>
            <a:pPr indent="0" marL="0">
              <a:buNone/>
            </a:pPr>
            <a:r>
              <a:rPr lang="en-US" sz="850" b="1" spc="180" kern="0" dirty="0">
                <a:solidFill>
                  <a:srgbClr val="2F7057"/>
                </a:solidFill>
                <a:latin typeface="Arial" pitchFamily="34" charset="0"/>
                <a:ea typeface="Arial" pitchFamily="34" charset="-122"/>
                <a:cs typeface="Arial" pitchFamily="34" charset="-120"/>
              </a:rPr>
              <a:t>DOMAINE CHRISTOPHE PATRICE</a:t>
            </a:r>
            <a:endParaRPr lang="en-US" sz="850" dirty="0"/>
          </a:p>
        </p:txBody>
      </p:sp>
      <p:sp>
        <p:nvSpPr>
          <p:cNvPr id="4" name="Text 2"/>
          <p:cNvSpPr/>
          <p:nvPr/>
        </p:nvSpPr>
        <p:spPr>
          <a:xfrm>
            <a:off x="658368" y="786384"/>
            <a:ext cx="10881360" cy="566928"/>
          </a:xfrm>
          <a:prstGeom prst="rect">
            <a:avLst/>
          </a:prstGeom>
          <a:noFill/>
          <a:ln/>
        </p:spPr>
        <p:txBody>
          <a:bodyPr wrap="square" lIns="0" tIns="0" rIns="0" bIns="0" rtlCol="0" anchor="t"/>
          <a:lstStyle/>
          <a:p>
            <a:pPr indent="0" marL="0">
              <a:buNone/>
            </a:pPr>
            <a:r>
              <a:rPr lang="en-US" sz="2600" b="1" dirty="0">
                <a:solidFill>
                  <a:srgbClr val="20231E"/>
                </a:solidFill>
                <a:latin typeface="Georgia" pitchFamily="34" charset="0"/>
                <a:ea typeface="Georgia" pitchFamily="34" charset="-122"/>
                <a:cs typeface="Georgia" pitchFamily="34" charset="-120"/>
              </a:rPr>
              <a:t>Un site utile, pas seulement plus beau.</a:t>
            </a:r>
            <a:endParaRPr lang="en-US" sz="2600" dirty="0"/>
          </a:p>
        </p:txBody>
      </p:sp>
      <p:sp>
        <p:nvSpPr>
          <p:cNvPr id="5" name="Text 3"/>
          <p:cNvSpPr/>
          <p:nvPr/>
        </p:nvSpPr>
        <p:spPr>
          <a:xfrm>
            <a:off x="658368" y="1389888"/>
            <a:ext cx="10424160" cy="347472"/>
          </a:xfrm>
          <a:prstGeom prst="rect">
            <a:avLst/>
          </a:prstGeom>
          <a:noFill/>
          <a:ln/>
        </p:spPr>
        <p:txBody>
          <a:bodyPr wrap="square" lIns="0" tIns="0" rIns="0" bIns="0" rtlCol="0" anchor="t"/>
          <a:lstStyle/>
          <a:p>
            <a:pPr indent="0" marL="0">
              <a:buNone/>
            </a:pPr>
            <a:r>
              <a:rPr lang="en-US" sz="1150" dirty="0">
                <a:solidFill>
                  <a:srgbClr val="5A5E55"/>
                </a:solidFill>
                <a:latin typeface="Arial" pitchFamily="34" charset="0"/>
                <a:ea typeface="Arial" pitchFamily="34" charset="-122"/>
                <a:cs typeface="Arial" pitchFamily="34" charset="-120"/>
              </a:rPr>
              <a:t>Chaque public trouve rapidement la prochaine action qui lui correspond.</a:t>
            </a:r>
            <a:endParaRPr lang="en-US" sz="1150" dirty="0"/>
          </a:p>
        </p:txBody>
      </p:sp>
      <p:sp>
        <p:nvSpPr>
          <p:cNvPr id="6" name="Shape 4"/>
          <p:cNvSpPr/>
          <p:nvPr/>
        </p:nvSpPr>
        <p:spPr>
          <a:xfrm>
            <a:off x="658368" y="1901952"/>
            <a:ext cx="7543800" cy="932688"/>
          </a:xfrm>
          <a:prstGeom prst="roundRect">
            <a:avLst>
              <a:gd name="adj" fmla="val 3922"/>
            </a:avLst>
          </a:prstGeom>
          <a:solidFill>
            <a:srgbClr val="FAF8F2"/>
          </a:solidFill>
          <a:ln w="10160">
            <a:solidFill>
              <a:srgbClr val="CEC8BA"/>
            </a:solidFill>
            <a:prstDash val="solid"/>
          </a:ln>
        </p:spPr>
      </p:sp>
      <p:sp>
        <p:nvSpPr>
          <p:cNvPr id="7" name="Shape 5"/>
          <p:cNvSpPr/>
          <p:nvPr/>
        </p:nvSpPr>
        <p:spPr>
          <a:xfrm>
            <a:off x="658368" y="1901952"/>
            <a:ext cx="640080" cy="932688"/>
          </a:xfrm>
          <a:prstGeom prst="rect">
            <a:avLst/>
          </a:prstGeom>
          <a:solidFill>
            <a:srgbClr val="2F7057"/>
          </a:solidFill>
          <a:ln w="12700">
            <a:solidFill>
              <a:srgbClr val="2F7057"/>
            </a:solidFill>
            <a:prstDash val="solid"/>
          </a:ln>
        </p:spPr>
      </p:sp>
      <p:sp>
        <p:nvSpPr>
          <p:cNvPr id="8" name="Text 6"/>
          <p:cNvSpPr/>
          <p:nvPr/>
        </p:nvSpPr>
        <p:spPr>
          <a:xfrm>
            <a:off x="768096" y="2221992"/>
            <a:ext cx="420624" cy="201168"/>
          </a:xfrm>
          <a:prstGeom prst="rect">
            <a:avLst/>
          </a:prstGeom>
          <a:noFill/>
          <a:ln/>
        </p:spPr>
        <p:txBody>
          <a:bodyPr wrap="square" lIns="0" tIns="0" rIns="0" bIns="0" rtlCol="0" anchor="ctr"/>
          <a:lstStyle/>
          <a:p>
            <a:pPr algn="ctr" indent="0" marL="0">
              <a:buNone/>
            </a:pPr>
            <a:r>
              <a:rPr lang="en-US" sz="900" b="1" dirty="0">
                <a:solidFill>
                  <a:srgbClr val="F7F4EC"/>
                </a:solidFill>
                <a:latin typeface="Arial" pitchFamily="34" charset="0"/>
                <a:ea typeface="Arial" pitchFamily="34" charset="-122"/>
                <a:cs typeface="Arial" pitchFamily="34" charset="-120"/>
              </a:rPr>
              <a:t>01</a:t>
            </a:r>
            <a:endParaRPr lang="en-US" sz="900" dirty="0"/>
          </a:p>
        </p:txBody>
      </p:sp>
      <p:sp>
        <p:nvSpPr>
          <p:cNvPr id="9" name="Text 7"/>
          <p:cNvSpPr/>
          <p:nvPr/>
        </p:nvSpPr>
        <p:spPr>
          <a:xfrm>
            <a:off x="1554480" y="1993392"/>
            <a:ext cx="2286000" cy="457200"/>
          </a:xfrm>
          <a:prstGeom prst="rect">
            <a:avLst/>
          </a:prstGeom>
          <a:noFill/>
          <a:ln/>
        </p:spPr>
        <p:txBody>
          <a:bodyPr wrap="square" lIns="0" tIns="0" rIns="0" bIns="0" rtlCol="0" anchor="ctr"/>
          <a:lstStyle/>
          <a:p>
            <a:pPr indent="0" marL="0">
              <a:buNone/>
            </a:pPr>
            <a:r>
              <a:rPr lang="en-US" sz="1450" b="1" dirty="0">
                <a:solidFill>
                  <a:srgbClr val="20231E"/>
                </a:solidFill>
                <a:latin typeface="Georgia" pitchFamily="34" charset="0"/>
                <a:ea typeface="Georgia" pitchFamily="34" charset="-122"/>
                <a:cs typeface="Georgia" pitchFamily="34" charset="-120"/>
              </a:rPr>
              <a:t>Particulier</a:t>
            </a:r>
            <a:endParaRPr lang="en-US" sz="1450" dirty="0"/>
          </a:p>
        </p:txBody>
      </p:sp>
      <p:sp>
        <p:nvSpPr>
          <p:cNvPr id="10" name="Text 8"/>
          <p:cNvSpPr/>
          <p:nvPr/>
        </p:nvSpPr>
        <p:spPr>
          <a:xfrm>
            <a:off x="1554480" y="2542032"/>
            <a:ext cx="6199632" cy="164592"/>
          </a:xfrm>
          <a:prstGeom prst="rect">
            <a:avLst/>
          </a:prstGeom>
          <a:noFill/>
          <a:ln/>
        </p:spPr>
        <p:txBody>
          <a:bodyPr wrap="square" lIns="0" tIns="0" rIns="0" bIns="0" rtlCol="0" anchor="ctr"/>
          <a:lstStyle/>
          <a:p>
            <a:pPr indent="0" marL="0">
              <a:buNone/>
            </a:pPr>
            <a:r>
              <a:rPr lang="en-US" sz="850" dirty="0">
                <a:solidFill>
                  <a:srgbClr val="5A5E55"/>
                </a:solidFill>
                <a:latin typeface="Arial" pitchFamily="34" charset="0"/>
                <a:ea typeface="Arial" pitchFamily="34" charset="-122"/>
                <a:cs typeface="Arial" pitchFamily="34" charset="-120"/>
              </a:rPr>
              <a:t>Découvrir les cuvées  →  préparer une dégustation  →  appeler le domaine</a:t>
            </a:r>
            <a:endParaRPr lang="en-US" sz="850" dirty="0"/>
          </a:p>
        </p:txBody>
      </p:sp>
      <p:sp>
        <p:nvSpPr>
          <p:cNvPr id="11" name="Shape 9"/>
          <p:cNvSpPr/>
          <p:nvPr/>
        </p:nvSpPr>
        <p:spPr>
          <a:xfrm>
            <a:off x="658368" y="3072384"/>
            <a:ext cx="7543800" cy="932688"/>
          </a:xfrm>
          <a:prstGeom prst="roundRect">
            <a:avLst>
              <a:gd name="adj" fmla="val 3922"/>
            </a:avLst>
          </a:prstGeom>
          <a:solidFill>
            <a:srgbClr val="E7E2D6"/>
          </a:solidFill>
          <a:ln w="10160">
            <a:solidFill>
              <a:srgbClr val="CEC8BA"/>
            </a:solidFill>
            <a:prstDash val="solid"/>
          </a:ln>
        </p:spPr>
      </p:sp>
      <p:sp>
        <p:nvSpPr>
          <p:cNvPr id="12" name="Shape 10"/>
          <p:cNvSpPr/>
          <p:nvPr/>
        </p:nvSpPr>
        <p:spPr>
          <a:xfrm>
            <a:off x="658368" y="3072384"/>
            <a:ext cx="640080" cy="932688"/>
          </a:xfrm>
          <a:prstGeom prst="rect">
            <a:avLst/>
          </a:prstGeom>
          <a:solidFill>
            <a:srgbClr val="2F7057"/>
          </a:solidFill>
          <a:ln w="12700">
            <a:solidFill>
              <a:srgbClr val="2F7057"/>
            </a:solidFill>
            <a:prstDash val="solid"/>
          </a:ln>
        </p:spPr>
      </p:sp>
      <p:sp>
        <p:nvSpPr>
          <p:cNvPr id="13" name="Text 11"/>
          <p:cNvSpPr/>
          <p:nvPr/>
        </p:nvSpPr>
        <p:spPr>
          <a:xfrm>
            <a:off x="768096" y="3392424"/>
            <a:ext cx="420624" cy="201168"/>
          </a:xfrm>
          <a:prstGeom prst="rect">
            <a:avLst/>
          </a:prstGeom>
          <a:noFill/>
          <a:ln/>
        </p:spPr>
        <p:txBody>
          <a:bodyPr wrap="square" lIns="0" tIns="0" rIns="0" bIns="0" rtlCol="0" anchor="ctr"/>
          <a:lstStyle/>
          <a:p>
            <a:pPr algn="ctr" indent="0" marL="0">
              <a:buNone/>
            </a:pPr>
            <a:r>
              <a:rPr lang="en-US" sz="900" b="1" dirty="0">
                <a:solidFill>
                  <a:srgbClr val="F7F4EC"/>
                </a:solidFill>
                <a:latin typeface="Arial" pitchFamily="34" charset="0"/>
                <a:ea typeface="Arial" pitchFamily="34" charset="-122"/>
                <a:cs typeface="Arial" pitchFamily="34" charset="-120"/>
              </a:rPr>
              <a:t>02</a:t>
            </a:r>
            <a:endParaRPr lang="en-US" sz="900" dirty="0"/>
          </a:p>
        </p:txBody>
      </p:sp>
      <p:sp>
        <p:nvSpPr>
          <p:cNvPr id="14" name="Text 12"/>
          <p:cNvSpPr/>
          <p:nvPr/>
        </p:nvSpPr>
        <p:spPr>
          <a:xfrm>
            <a:off x="1554480" y="3163824"/>
            <a:ext cx="2286000" cy="457200"/>
          </a:xfrm>
          <a:prstGeom prst="rect">
            <a:avLst/>
          </a:prstGeom>
          <a:noFill/>
          <a:ln/>
        </p:spPr>
        <p:txBody>
          <a:bodyPr wrap="square" lIns="0" tIns="0" rIns="0" bIns="0" rtlCol="0" anchor="ctr"/>
          <a:lstStyle/>
          <a:p>
            <a:pPr indent="0" marL="0">
              <a:buNone/>
            </a:pPr>
            <a:r>
              <a:rPr lang="en-US" sz="1450" b="1" dirty="0">
                <a:solidFill>
                  <a:srgbClr val="20231E"/>
                </a:solidFill>
                <a:latin typeface="Georgia" pitchFamily="34" charset="0"/>
                <a:ea typeface="Georgia" pitchFamily="34" charset="-122"/>
                <a:cs typeface="Georgia" pitchFamily="34" charset="-120"/>
              </a:rPr>
              <a:t>Caviste ou importateur</a:t>
            </a:r>
            <a:endParaRPr lang="en-US" sz="1450" dirty="0"/>
          </a:p>
        </p:txBody>
      </p:sp>
      <p:sp>
        <p:nvSpPr>
          <p:cNvPr id="15" name="Text 13"/>
          <p:cNvSpPr/>
          <p:nvPr/>
        </p:nvSpPr>
        <p:spPr>
          <a:xfrm>
            <a:off x="1554480" y="3712464"/>
            <a:ext cx="6199632" cy="164592"/>
          </a:xfrm>
          <a:prstGeom prst="rect">
            <a:avLst/>
          </a:prstGeom>
          <a:noFill/>
          <a:ln/>
        </p:spPr>
        <p:txBody>
          <a:bodyPr wrap="square" lIns="0" tIns="0" rIns="0" bIns="0" rtlCol="0" anchor="ctr"/>
          <a:lstStyle/>
          <a:p>
            <a:pPr indent="0" marL="0">
              <a:buNone/>
            </a:pPr>
            <a:r>
              <a:rPr lang="en-US" sz="850" dirty="0">
                <a:solidFill>
                  <a:srgbClr val="5A5E55"/>
                </a:solidFill>
                <a:latin typeface="Arial" pitchFamily="34" charset="0"/>
                <a:ea typeface="Arial" pitchFamily="34" charset="-122"/>
                <a:cs typeface="Arial" pitchFamily="34" charset="-120"/>
              </a:rPr>
              <a:t>Comprendre la gamme  →  consulter les terroirs  →  demander les tarifs</a:t>
            </a:r>
            <a:endParaRPr lang="en-US" sz="850" dirty="0"/>
          </a:p>
        </p:txBody>
      </p:sp>
      <p:sp>
        <p:nvSpPr>
          <p:cNvPr id="16" name="Shape 14"/>
          <p:cNvSpPr/>
          <p:nvPr/>
        </p:nvSpPr>
        <p:spPr>
          <a:xfrm>
            <a:off x="658368" y="4242816"/>
            <a:ext cx="7543800" cy="932688"/>
          </a:xfrm>
          <a:prstGeom prst="roundRect">
            <a:avLst>
              <a:gd name="adj" fmla="val 3922"/>
            </a:avLst>
          </a:prstGeom>
          <a:solidFill>
            <a:srgbClr val="FAF8F2"/>
          </a:solidFill>
          <a:ln w="10160">
            <a:solidFill>
              <a:srgbClr val="CEC8BA"/>
            </a:solidFill>
            <a:prstDash val="solid"/>
          </a:ln>
        </p:spPr>
      </p:sp>
      <p:sp>
        <p:nvSpPr>
          <p:cNvPr id="17" name="Shape 15"/>
          <p:cNvSpPr/>
          <p:nvPr/>
        </p:nvSpPr>
        <p:spPr>
          <a:xfrm>
            <a:off x="658368" y="4242816"/>
            <a:ext cx="640080" cy="932688"/>
          </a:xfrm>
          <a:prstGeom prst="rect">
            <a:avLst/>
          </a:prstGeom>
          <a:solidFill>
            <a:srgbClr val="2F7057"/>
          </a:solidFill>
          <a:ln w="12700">
            <a:solidFill>
              <a:srgbClr val="2F7057"/>
            </a:solidFill>
            <a:prstDash val="solid"/>
          </a:ln>
        </p:spPr>
      </p:sp>
      <p:sp>
        <p:nvSpPr>
          <p:cNvPr id="18" name="Text 16"/>
          <p:cNvSpPr/>
          <p:nvPr/>
        </p:nvSpPr>
        <p:spPr>
          <a:xfrm>
            <a:off x="768096" y="4562856"/>
            <a:ext cx="420624" cy="201168"/>
          </a:xfrm>
          <a:prstGeom prst="rect">
            <a:avLst/>
          </a:prstGeom>
          <a:noFill/>
          <a:ln/>
        </p:spPr>
        <p:txBody>
          <a:bodyPr wrap="square" lIns="0" tIns="0" rIns="0" bIns="0" rtlCol="0" anchor="ctr"/>
          <a:lstStyle/>
          <a:p>
            <a:pPr algn="ctr" indent="0" marL="0">
              <a:buNone/>
            </a:pPr>
            <a:r>
              <a:rPr lang="en-US" sz="900" b="1" dirty="0">
                <a:solidFill>
                  <a:srgbClr val="F7F4EC"/>
                </a:solidFill>
                <a:latin typeface="Arial" pitchFamily="34" charset="0"/>
                <a:ea typeface="Arial" pitchFamily="34" charset="-122"/>
                <a:cs typeface="Arial" pitchFamily="34" charset="-120"/>
              </a:rPr>
              <a:t>03</a:t>
            </a:r>
            <a:endParaRPr lang="en-US" sz="900" dirty="0"/>
          </a:p>
        </p:txBody>
      </p:sp>
      <p:sp>
        <p:nvSpPr>
          <p:cNvPr id="19" name="Text 17"/>
          <p:cNvSpPr/>
          <p:nvPr/>
        </p:nvSpPr>
        <p:spPr>
          <a:xfrm>
            <a:off x="1554480" y="4334256"/>
            <a:ext cx="2286000" cy="457200"/>
          </a:xfrm>
          <a:prstGeom prst="rect">
            <a:avLst/>
          </a:prstGeom>
          <a:noFill/>
          <a:ln/>
        </p:spPr>
        <p:txBody>
          <a:bodyPr wrap="square" lIns="0" tIns="0" rIns="0" bIns="0" rtlCol="0" anchor="ctr"/>
          <a:lstStyle/>
          <a:p>
            <a:pPr indent="0" marL="0">
              <a:buNone/>
            </a:pPr>
            <a:r>
              <a:rPr lang="en-US" sz="1450" b="1" dirty="0">
                <a:solidFill>
                  <a:srgbClr val="20231E"/>
                </a:solidFill>
                <a:latin typeface="Georgia" pitchFamily="34" charset="0"/>
                <a:ea typeface="Georgia" pitchFamily="34" charset="-122"/>
                <a:cs typeface="Georgia" pitchFamily="34" charset="-120"/>
              </a:rPr>
              <a:t>Visiteur du Chablisien</a:t>
            </a:r>
            <a:endParaRPr lang="en-US" sz="1450" dirty="0"/>
          </a:p>
        </p:txBody>
      </p:sp>
      <p:sp>
        <p:nvSpPr>
          <p:cNvPr id="20" name="Text 18"/>
          <p:cNvSpPr/>
          <p:nvPr/>
        </p:nvSpPr>
        <p:spPr>
          <a:xfrm>
            <a:off x="1554480" y="4882896"/>
            <a:ext cx="6199632" cy="164592"/>
          </a:xfrm>
          <a:prstGeom prst="rect">
            <a:avLst/>
          </a:prstGeom>
          <a:noFill/>
          <a:ln/>
        </p:spPr>
        <p:txBody>
          <a:bodyPr wrap="square" lIns="0" tIns="0" rIns="0" bIns="0" rtlCol="0" anchor="ctr"/>
          <a:lstStyle/>
          <a:p>
            <a:pPr indent="0" marL="0">
              <a:buNone/>
            </a:pPr>
            <a:r>
              <a:rPr lang="en-US" sz="850" dirty="0">
                <a:solidFill>
                  <a:srgbClr val="5A5E55"/>
                </a:solidFill>
                <a:latin typeface="Arial" pitchFamily="34" charset="0"/>
                <a:ea typeface="Arial" pitchFamily="34" charset="-122"/>
                <a:cs typeface="Arial" pitchFamily="34" charset="-120"/>
              </a:rPr>
              <a:t>Vérifier les horaires  →  lancer l’itinéraire  →  découvrir le gîte</a:t>
            </a:r>
            <a:endParaRPr lang="en-US" sz="850" dirty="0"/>
          </a:p>
        </p:txBody>
      </p:sp>
      <p:sp>
        <p:nvSpPr>
          <p:cNvPr id="21" name="Shape 19"/>
          <p:cNvSpPr/>
          <p:nvPr/>
        </p:nvSpPr>
        <p:spPr>
          <a:xfrm>
            <a:off x="8833104" y="1755648"/>
            <a:ext cx="2377440" cy="4315968"/>
          </a:xfrm>
          <a:prstGeom prst="roundRect">
            <a:avLst>
              <a:gd name="adj" fmla="val 3077"/>
            </a:avLst>
          </a:prstGeom>
          <a:solidFill>
            <a:srgbClr val="171A15"/>
          </a:solidFill>
          <a:ln w="15240">
            <a:solidFill>
              <a:srgbClr val="2F7057"/>
            </a:solidFill>
            <a:prstDash val="solid"/>
          </a:ln>
          <a:effectLst>
            <a:outerShdw sx="100000" sy="100000" kx="0" ky="0" algn="bl" rotWithShape="0" blurRad="25400" dist="50800" dir="2700000">
              <a:srgbClr val="000000">
                <a:alpha val="16000"/>
              </a:srgbClr>
            </a:outerShdw>
          </a:effectLst>
        </p:spPr>
      </p:sp>
      <p:pic>
        <p:nvPicPr>
          <p:cNvPr id="22" name="Image 0" descr="Version anglaise du nouveau site affichée sur mobile">    </p:cNvPr>
          <p:cNvPicPr>
            <a:picLocks noChangeAspect="1"/>
          </p:cNvPicPr>
          <p:nvPr/>
        </p:nvPicPr>
        <p:blipFill>
          <a:blip r:embed="rId1"/>
          <a:srcRect l="0" r="0" t="0" b="0"/>
          <a:stretch/>
        </p:blipFill>
        <p:spPr>
          <a:xfrm>
            <a:off x="8942832" y="1865376"/>
            <a:ext cx="2157984" cy="4087368"/>
          </a:xfrm>
          <a:prstGeom prst="rect">
            <a:avLst/>
          </a:prstGeom>
        </p:spPr>
      </p:pic>
      <p:sp>
        <p:nvSpPr>
          <p:cNvPr id="23" name="Text 20"/>
          <p:cNvSpPr/>
          <p:nvPr/>
        </p:nvSpPr>
        <p:spPr>
          <a:xfrm>
            <a:off x="9262872" y="6099048"/>
            <a:ext cx="1508760" cy="201168"/>
          </a:xfrm>
          <a:prstGeom prst="rect">
            <a:avLst/>
          </a:prstGeom>
          <a:noFill/>
          <a:ln/>
        </p:spPr>
        <p:txBody>
          <a:bodyPr wrap="square" lIns="0" tIns="0" rIns="0" bIns="0" rtlCol="0" anchor="ctr"/>
          <a:lstStyle/>
          <a:p>
            <a:pPr algn="ctr" indent="0" marL="0">
              <a:buNone/>
            </a:pPr>
            <a:r>
              <a:rPr lang="en-US" sz="850" b="1" spc="120" kern="0" dirty="0">
                <a:solidFill>
                  <a:srgbClr val="2F7057"/>
                </a:solidFill>
                <a:latin typeface="Arial" pitchFamily="34" charset="0"/>
                <a:ea typeface="Arial" pitchFamily="34" charset="-122"/>
                <a:cs typeface="Arial" pitchFamily="34" charset="-120"/>
              </a:rPr>
              <a:t>FR / EN</a:t>
            </a:r>
            <a:endParaRPr lang="en-US" sz="850" dirty="0"/>
          </a:p>
        </p:txBody>
      </p:sp>
      <p:sp>
        <p:nvSpPr>
          <p:cNvPr id="24" name="Shape 21"/>
          <p:cNvSpPr/>
          <p:nvPr/>
        </p:nvSpPr>
        <p:spPr>
          <a:xfrm>
            <a:off x="658368" y="5742432"/>
            <a:ext cx="1261872" cy="310896"/>
          </a:xfrm>
          <a:prstGeom prst="roundRect">
            <a:avLst>
              <a:gd name="adj" fmla="val 14706"/>
            </a:avLst>
          </a:prstGeom>
          <a:solidFill>
            <a:srgbClr val="FAF8F2"/>
          </a:solidFill>
          <a:ln w="10160">
            <a:solidFill>
              <a:srgbClr val="CEC8BA"/>
            </a:solidFill>
            <a:prstDash val="solid"/>
          </a:ln>
        </p:spPr>
      </p:sp>
      <p:sp>
        <p:nvSpPr>
          <p:cNvPr id="25" name="Text 22"/>
          <p:cNvSpPr/>
          <p:nvPr/>
        </p:nvSpPr>
        <p:spPr>
          <a:xfrm>
            <a:off x="749808" y="5760720"/>
            <a:ext cx="1078992" cy="265176"/>
          </a:xfrm>
          <a:prstGeom prst="rect">
            <a:avLst/>
          </a:prstGeom>
          <a:noFill/>
          <a:ln/>
        </p:spPr>
        <p:txBody>
          <a:bodyPr wrap="square" lIns="0" tIns="0" rIns="0" bIns="0" rtlCol="0" anchor="ctr"/>
          <a:lstStyle/>
          <a:p>
            <a:pPr algn="ctr" indent="0" marL="0">
              <a:buNone/>
            </a:pPr>
            <a:r>
              <a:rPr lang="en-US" sz="800" b="1" dirty="0">
                <a:solidFill>
                  <a:srgbClr val="2F7057"/>
                </a:solidFill>
                <a:latin typeface="Arial" pitchFamily="34" charset="0"/>
                <a:ea typeface="Arial" pitchFamily="34" charset="-122"/>
                <a:cs typeface="Arial" pitchFamily="34" charset="-120"/>
              </a:rPr>
              <a:t>RESPONSIVE</a:t>
            </a:r>
            <a:endParaRPr lang="en-US" sz="800" dirty="0"/>
          </a:p>
        </p:txBody>
      </p:sp>
      <p:sp>
        <p:nvSpPr>
          <p:cNvPr id="26" name="Shape 23"/>
          <p:cNvSpPr/>
          <p:nvPr/>
        </p:nvSpPr>
        <p:spPr>
          <a:xfrm>
            <a:off x="2057400" y="5742432"/>
            <a:ext cx="1170432" cy="310896"/>
          </a:xfrm>
          <a:prstGeom prst="roundRect">
            <a:avLst>
              <a:gd name="adj" fmla="val 14706"/>
            </a:avLst>
          </a:prstGeom>
          <a:solidFill>
            <a:srgbClr val="FAF8F2"/>
          </a:solidFill>
          <a:ln w="10160">
            <a:solidFill>
              <a:srgbClr val="CEC8BA"/>
            </a:solidFill>
            <a:prstDash val="solid"/>
          </a:ln>
        </p:spPr>
      </p:sp>
      <p:sp>
        <p:nvSpPr>
          <p:cNvPr id="27" name="Text 24"/>
          <p:cNvSpPr/>
          <p:nvPr/>
        </p:nvSpPr>
        <p:spPr>
          <a:xfrm>
            <a:off x="2148840" y="5760720"/>
            <a:ext cx="987552" cy="265176"/>
          </a:xfrm>
          <a:prstGeom prst="rect">
            <a:avLst/>
          </a:prstGeom>
          <a:noFill/>
          <a:ln/>
        </p:spPr>
        <p:txBody>
          <a:bodyPr wrap="square" lIns="0" tIns="0" rIns="0" bIns="0" rtlCol="0" anchor="ctr"/>
          <a:lstStyle/>
          <a:p>
            <a:pPr algn="ctr" indent="0" marL="0">
              <a:buNone/>
            </a:pPr>
            <a:r>
              <a:rPr lang="en-US" sz="800" b="1" dirty="0">
                <a:solidFill>
                  <a:srgbClr val="2F7057"/>
                </a:solidFill>
                <a:latin typeface="Arial" pitchFamily="34" charset="0"/>
                <a:ea typeface="Arial" pitchFamily="34" charset="-122"/>
                <a:cs typeface="Arial" pitchFamily="34" charset="-120"/>
              </a:rPr>
              <a:t>ACCESSIBLE</a:t>
            </a:r>
            <a:endParaRPr lang="en-US" sz="800" dirty="0"/>
          </a:p>
        </p:txBody>
      </p:sp>
      <p:sp>
        <p:nvSpPr>
          <p:cNvPr id="28" name="Shape 25"/>
          <p:cNvSpPr/>
          <p:nvPr/>
        </p:nvSpPr>
        <p:spPr>
          <a:xfrm>
            <a:off x="3364992" y="5742432"/>
            <a:ext cx="1481328" cy="310896"/>
          </a:xfrm>
          <a:prstGeom prst="roundRect">
            <a:avLst>
              <a:gd name="adj" fmla="val 14706"/>
            </a:avLst>
          </a:prstGeom>
          <a:solidFill>
            <a:srgbClr val="FAF8F2"/>
          </a:solidFill>
          <a:ln w="10160">
            <a:solidFill>
              <a:srgbClr val="CEC8BA"/>
            </a:solidFill>
            <a:prstDash val="solid"/>
          </a:ln>
        </p:spPr>
      </p:sp>
      <p:sp>
        <p:nvSpPr>
          <p:cNvPr id="29" name="Text 26"/>
          <p:cNvSpPr/>
          <p:nvPr/>
        </p:nvSpPr>
        <p:spPr>
          <a:xfrm>
            <a:off x="3456432" y="5760720"/>
            <a:ext cx="1298448" cy="265176"/>
          </a:xfrm>
          <a:prstGeom prst="rect">
            <a:avLst/>
          </a:prstGeom>
          <a:noFill/>
          <a:ln/>
        </p:spPr>
        <p:txBody>
          <a:bodyPr wrap="square" lIns="0" tIns="0" rIns="0" bIns="0" rtlCol="0" anchor="ctr"/>
          <a:lstStyle/>
          <a:p>
            <a:pPr algn="ctr" indent="0" marL="0">
              <a:buNone/>
            </a:pPr>
            <a:r>
              <a:rPr lang="en-US" sz="800" b="1" dirty="0">
                <a:solidFill>
                  <a:srgbClr val="2F7057"/>
                </a:solidFill>
                <a:latin typeface="Arial" pitchFamily="34" charset="0"/>
                <a:ea typeface="Arial" pitchFamily="34" charset="-122"/>
                <a:cs typeface="Arial" pitchFamily="34" charset="-120"/>
              </a:rPr>
              <a:t>CONTACT DIRECT</a:t>
            </a:r>
            <a:endParaRPr lang="en-US" sz="800" dirty="0"/>
          </a:p>
        </p:txBody>
      </p:sp>
      <p:sp>
        <p:nvSpPr>
          <p:cNvPr id="30" name="Shape 27"/>
          <p:cNvSpPr/>
          <p:nvPr/>
        </p:nvSpPr>
        <p:spPr>
          <a:xfrm>
            <a:off x="4983480" y="5742432"/>
            <a:ext cx="2148840" cy="310896"/>
          </a:xfrm>
          <a:prstGeom prst="roundRect">
            <a:avLst>
              <a:gd name="adj" fmla="val 14706"/>
            </a:avLst>
          </a:prstGeom>
          <a:solidFill>
            <a:srgbClr val="FAF8F2"/>
          </a:solidFill>
          <a:ln w="10160">
            <a:solidFill>
              <a:srgbClr val="CEC8BA"/>
            </a:solidFill>
            <a:prstDash val="solid"/>
          </a:ln>
        </p:spPr>
      </p:sp>
      <p:sp>
        <p:nvSpPr>
          <p:cNvPr id="31" name="Text 28"/>
          <p:cNvSpPr/>
          <p:nvPr/>
        </p:nvSpPr>
        <p:spPr>
          <a:xfrm>
            <a:off x="5074920" y="5760720"/>
            <a:ext cx="1965960" cy="265176"/>
          </a:xfrm>
          <a:prstGeom prst="rect">
            <a:avLst/>
          </a:prstGeom>
          <a:noFill/>
          <a:ln/>
        </p:spPr>
        <p:txBody>
          <a:bodyPr wrap="square" lIns="0" tIns="0" rIns="0" bIns="0" rtlCol="0" anchor="ctr"/>
          <a:lstStyle/>
          <a:p>
            <a:pPr algn="ctr" indent="0" marL="0">
              <a:buNone/>
            </a:pPr>
            <a:r>
              <a:rPr lang="en-US" sz="800" b="1" dirty="0">
                <a:solidFill>
                  <a:srgbClr val="2F7057"/>
                </a:solidFill>
                <a:latin typeface="Arial" pitchFamily="34" charset="0"/>
                <a:ea typeface="Arial" pitchFamily="34" charset="-122"/>
                <a:cs typeface="Arial" pitchFamily="34" charset="-120"/>
              </a:rPr>
              <a:t>SANS BANNIÈRE INTRUSIVE</a:t>
            </a:r>
            <a:endParaRPr lang="en-US" sz="800" dirty="0"/>
          </a:p>
        </p:txBody>
      </p:sp>
      <p:sp>
        <p:nvSpPr>
          <p:cNvPr id="32" name="Shape 29"/>
          <p:cNvSpPr/>
          <p:nvPr/>
        </p:nvSpPr>
        <p:spPr>
          <a:xfrm>
            <a:off x="658368" y="6528816"/>
            <a:ext cx="10863072" cy="0"/>
          </a:xfrm>
          <a:prstGeom prst="line">
            <a:avLst/>
          </a:prstGeom>
          <a:noFill/>
          <a:ln w="8890">
            <a:solidFill>
              <a:srgbClr val="CEC8BA"/>
            </a:solidFill>
            <a:prstDash val="solid"/>
          </a:ln>
        </p:spPr>
      </p:sp>
      <p:sp>
        <p:nvSpPr>
          <p:cNvPr id="33" name="Text 30"/>
          <p:cNvSpPr/>
          <p:nvPr/>
        </p:nvSpPr>
        <p:spPr>
          <a:xfrm>
            <a:off x="658368" y="6574536"/>
            <a:ext cx="9966960" cy="146304"/>
          </a:xfrm>
          <a:prstGeom prst="rect">
            <a:avLst/>
          </a:prstGeom>
          <a:noFill/>
          <a:ln/>
        </p:spPr>
        <p:txBody>
          <a:bodyPr wrap="square" lIns="0" tIns="0" rIns="0" bIns="0" rtlCol="0" anchor="t"/>
          <a:lstStyle/>
          <a:p>
            <a:pPr indent="0" marL="0">
              <a:buNone/>
            </a:pPr>
            <a:endParaRPr lang="en-US" sz="640" dirty="0"/>
          </a:p>
        </p:txBody>
      </p:sp>
      <p:sp>
        <p:nvSpPr>
          <p:cNvPr id="34" name="Text 31"/>
          <p:cNvSpPr/>
          <p:nvPr/>
        </p:nvSpPr>
        <p:spPr>
          <a:xfrm>
            <a:off x="11045952" y="6556248"/>
            <a:ext cx="475488" cy="164592"/>
          </a:xfrm>
          <a:prstGeom prst="rect">
            <a:avLst/>
          </a:prstGeom>
          <a:noFill/>
          <a:ln/>
        </p:spPr>
        <p:txBody>
          <a:bodyPr wrap="square" lIns="0" tIns="0" rIns="0" bIns="0" rtlCol="0" anchor="ctr"/>
          <a:lstStyle/>
          <a:p>
            <a:pPr algn="r" indent="0" marL="0">
              <a:buNone/>
            </a:pPr>
            <a:r>
              <a:rPr lang="en-US" sz="750" b="1" dirty="0">
                <a:solidFill>
                  <a:srgbClr val="2F7057"/>
                </a:solidFill>
                <a:latin typeface="Arial" pitchFamily="34" charset="0"/>
                <a:ea typeface="Arial" pitchFamily="34" charset="-122"/>
                <a:cs typeface="Arial" pitchFamily="34" charset="-120"/>
              </a:rPr>
              <a:t>03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71A15"/>
        </a:solidFill>
      </p:bgPr>
    </p:bg>
    <p:spTree>
      <p:nvGrpSpPr>
        <p:cNvPr id="1" name=""/>
        <p:cNvGrpSpPr/>
        <p:nvPr/>
      </p:nvGrpSpPr>
      <p:grpSpPr>
        <a:xfrm>
          <a:off x="0" y="0"/>
          <a:ext cx="0" cy="0"/>
          <a:chOff x="0" y="0"/>
          <a:chExt cx="0" cy="0"/>
        </a:xfrm>
      </p:grpSpPr>
      <p:pic>
        <p:nvPicPr>
          <p:cNvPr id="2" name="Image 0" descr="Atlas interactif des terroirs de la nouvelle version">    </p:cNvPr>
          <p:cNvPicPr>
            <a:picLocks noChangeAspect="1"/>
          </p:cNvPicPr>
          <p:nvPr/>
        </p:nvPicPr>
        <p:blipFill>
          <a:blip r:embed="rId1">
            <a:alphaModFix amt="28000"/>
          </a:blip>
          <a:srcRect l="0" r="0" t="0" b="0"/>
          <a:stretch/>
        </p:blipFill>
        <p:spPr>
          <a:xfrm>
            <a:off x="6903720" y="0"/>
            <a:ext cx="5285232" cy="6858000"/>
          </a:xfrm>
          <a:prstGeom prst="rect">
            <a:avLst/>
          </a:prstGeom>
        </p:spPr>
      </p:pic>
      <p:sp>
        <p:nvSpPr>
          <p:cNvPr id="3" name="Shape 0"/>
          <p:cNvSpPr/>
          <p:nvPr/>
        </p:nvSpPr>
        <p:spPr>
          <a:xfrm>
            <a:off x="0" y="0"/>
            <a:ext cx="12191695" cy="6858000"/>
          </a:xfrm>
          <a:prstGeom prst="rect">
            <a:avLst/>
          </a:prstGeom>
          <a:solidFill>
            <a:srgbClr val="171A15">
              <a:alpha val="92000"/>
            </a:srgbClr>
          </a:solidFill>
          <a:ln w="12700">
            <a:solidFill>
              <a:srgbClr val="171A15">
                <a:alpha val="0"/>
              </a:srgbClr>
            </a:solidFill>
            <a:prstDash val="solid"/>
          </a:ln>
        </p:spPr>
      </p:sp>
      <p:sp>
        <p:nvSpPr>
          <p:cNvPr id="4" name="Shape 1"/>
          <p:cNvSpPr/>
          <p:nvPr/>
        </p:nvSpPr>
        <p:spPr>
          <a:xfrm>
            <a:off x="658368" y="516636"/>
            <a:ext cx="256032" cy="0"/>
          </a:xfrm>
          <a:prstGeom prst="line">
            <a:avLst/>
          </a:prstGeom>
          <a:noFill/>
          <a:ln w="16510">
            <a:solidFill>
              <a:srgbClr val="58A07D"/>
            </a:solidFill>
            <a:prstDash val="solid"/>
          </a:ln>
        </p:spPr>
      </p:sp>
      <p:sp>
        <p:nvSpPr>
          <p:cNvPr id="5" name="Text 2"/>
          <p:cNvSpPr/>
          <p:nvPr/>
        </p:nvSpPr>
        <p:spPr>
          <a:xfrm>
            <a:off x="1042416" y="420624"/>
            <a:ext cx="4297680" cy="219456"/>
          </a:xfrm>
          <a:prstGeom prst="rect">
            <a:avLst/>
          </a:prstGeom>
          <a:noFill/>
          <a:ln/>
        </p:spPr>
        <p:txBody>
          <a:bodyPr wrap="square" lIns="0" tIns="0" rIns="0" bIns="0" rtlCol="0" anchor="ctr"/>
          <a:lstStyle/>
          <a:p>
            <a:pPr indent="0" marL="0">
              <a:buNone/>
            </a:pPr>
            <a:r>
              <a:rPr lang="en-US" sz="850" b="1" spc="180" kern="0" dirty="0">
                <a:solidFill>
                  <a:srgbClr val="58A07D"/>
                </a:solidFill>
                <a:latin typeface="Arial" pitchFamily="34" charset="0"/>
                <a:ea typeface="Arial" pitchFamily="34" charset="-122"/>
                <a:cs typeface="Arial" pitchFamily="34" charset="-120"/>
              </a:rPr>
              <a:t>DOMAINE CHRISTOPHE PATRICE</a:t>
            </a:r>
            <a:endParaRPr lang="en-US" sz="850" dirty="0"/>
          </a:p>
        </p:txBody>
      </p:sp>
      <p:sp>
        <p:nvSpPr>
          <p:cNvPr id="6" name="Text 3"/>
          <p:cNvSpPr/>
          <p:nvPr/>
        </p:nvSpPr>
        <p:spPr>
          <a:xfrm>
            <a:off x="658368" y="786384"/>
            <a:ext cx="10881360" cy="566928"/>
          </a:xfrm>
          <a:prstGeom prst="rect">
            <a:avLst/>
          </a:prstGeom>
          <a:noFill/>
          <a:ln/>
        </p:spPr>
        <p:txBody>
          <a:bodyPr wrap="square" lIns="0" tIns="0" rIns="0" bIns="0" rtlCol="0" anchor="t"/>
          <a:lstStyle/>
          <a:p>
            <a:pPr indent="0" marL="0">
              <a:buNone/>
            </a:pPr>
            <a:r>
              <a:rPr lang="en-US" sz="2600" b="1" dirty="0">
                <a:solidFill>
                  <a:srgbClr val="F7F4EC"/>
                </a:solidFill>
                <a:latin typeface="Georgia" pitchFamily="34" charset="0"/>
                <a:ea typeface="Georgia" pitchFamily="34" charset="-122"/>
                <a:cs typeface="Georgia" pitchFamily="34" charset="-120"/>
              </a:rPr>
              <a:t>Aujourd’hui, la présence numérique fait partie du caveau.</a:t>
            </a:r>
            <a:endParaRPr lang="en-US" sz="2600" dirty="0"/>
          </a:p>
        </p:txBody>
      </p:sp>
      <p:sp>
        <p:nvSpPr>
          <p:cNvPr id="7" name="Text 4"/>
          <p:cNvSpPr/>
          <p:nvPr/>
        </p:nvSpPr>
        <p:spPr>
          <a:xfrm>
            <a:off x="658368" y="1389888"/>
            <a:ext cx="10424160" cy="347472"/>
          </a:xfrm>
          <a:prstGeom prst="rect">
            <a:avLst/>
          </a:prstGeom>
          <a:noFill/>
          <a:ln/>
        </p:spPr>
        <p:txBody>
          <a:bodyPr wrap="square" lIns="0" tIns="0" rIns="0" bIns="0" rtlCol="0" anchor="t"/>
          <a:lstStyle/>
          <a:p>
            <a:pPr indent="0" marL="0">
              <a:buNone/>
            </a:pPr>
            <a:r>
              <a:rPr lang="en-US" sz="1150" dirty="0">
                <a:solidFill>
                  <a:srgbClr val="B8B3A6"/>
                </a:solidFill>
                <a:latin typeface="Arial" pitchFamily="34" charset="0"/>
                <a:ea typeface="Arial" pitchFamily="34" charset="-122"/>
                <a:cs typeface="Arial" pitchFamily="34" charset="-120"/>
              </a:rPr>
              <a:t>Avant une visite, une commande ou un premier échange professionnel, le site accueille déjà le futur client.</a:t>
            </a:r>
            <a:endParaRPr lang="en-US" sz="1150" dirty="0"/>
          </a:p>
        </p:txBody>
      </p:sp>
      <p:sp>
        <p:nvSpPr>
          <p:cNvPr id="8" name="Shape 5"/>
          <p:cNvSpPr/>
          <p:nvPr/>
        </p:nvSpPr>
        <p:spPr>
          <a:xfrm>
            <a:off x="658368" y="2240280"/>
            <a:ext cx="3163824" cy="0"/>
          </a:xfrm>
          <a:prstGeom prst="line">
            <a:avLst/>
          </a:prstGeom>
          <a:noFill/>
          <a:ln w="15240">
            <a:solidFill>
              <a:srgbClr val="58A07D"/>
            </a:solidFill>
            <a:prstDash val="solid"/>
          </a:ln>
        </p:spPr>
      </p:sp>
      <p:sp>
        <p:nvSpPr>
          <p:cNvPr id="9" name="Text 6"/>
          <p:cNvSpPr/>
          <p:nvPr/>
        </p:nvSpPr>
        <p:spPr>
          <a:xfrm>
            <a:off x="658368" y="2487168"/>
            <a:ext cx="2971800" cy="804672"/>
          </a:xfrm>
          <a:prstGeom prst="rect">
            <a:avLst/>
          </a:prstGeom>
          <a:noFill/>
          <a:ln/>
        </p:spPr>
        <p:txBody>
          <a:bodyPr wrap="square" lIns="0" tIns="0" rIns="0" bIns="0" rtlCol="0" anchor="t"/>
          <a:lstStyle/>
          <a:p>
            <a:pPr indent="0" marL="0">
              <a:buNone/>
            </a:pPr>
            <a:r>
              <a:rPr lang="en-US" sz="3400" b="1" dirty="0">
                <a:solidFill>
                  <a:srgbClr val="F7F4EC"/>
                </a:solidFill>
                <a:latin typeface="Georgia" pitchFamily="34" charset="0"/>
                <a:ea typeface="Georgia" pitchFamily="34" charset="-122"/>
                <a:cs typeface="Georgia" pitchFamily="34" charset="-120"/>
              </a:rPr>
              <a:t>79 %</a:t>
            </a:r>
            <a:endParaRPr lang="en-US" sz="3400" dirty="0"/>
          </a:p>
        </p:txBody>
      </p:sp>
      <p:sp>
        <p:nvSpPr>
          <p:cNvPr id="10" name="Text 7"/>
          <p:cNvSpPr/>
          <p:nvPr/>
        </p:nvSpPr>
        <p:spPr>
          <a:xfrm>
            <a:off x="658368" y="3456432"/>
            <a:ext cx="3063240" cy="685800"/>
          </a:xfrm>
          <a:prstGeom prst="rect">
            <a:avLst/>
          </a:prstGeom>
          <a:noFill/>
          <a:ln/>
        </p:spPr>
        <p:txBody>
          <a:bodyPr wrap="square" lIns="0" tIns="0" rIns="0" bIns="0" rtlCol="0" anchor="t"/>
          <a:lstStyle/>
          <a:p>
            <a:pPr indent="0" marL="0">
              <a:buNone/>
            </a:pPr>
            <a:r>
              <a:rPr lang="en-US" sz="1100" dirty="0">
                <a:solidFill>
                  <a:srgbClr val="B8B3A6"/>
                </a:solidFill>
                <a:latin typeface="Arial" pitchFamily="34" charset="0"/>
                <a:ea typeface="Arial" pitchFamily="34" charset="-122"/>
                <a:cs typeface="Arial" pitchFamily="34" charset="-120"/>
              </a:rPr>
              <a:t>des viticulteurs disposent</a:t>
            </a:r>
            <a:endParaRPr lang="en-US" sz="1100" dirty="0"/>
          </a:p>
          <a:p>
            <a:pPr indent="0" marL="0">
              <a:buNone/>
            </a:pPr>
            <a:r>
              <a:rPr lang="en-US" sz="1100" dirty="0">
                <a:solidFill>
                  <a:srgbClr val="B8B3A6"/>
                </a:solidFill>
                <a:latin typeface="Arial" pitchFamily="34" charset="0"/>
                <a:ea typeface="Arial" pitchFamily="34" charset="-122"/>
                <a:cs typeface="Arial" pitchFamily="34" charset="-120"/>
              </a:rPr>
              <a:t>déjà d’un site internet</a:t>
            </a:r>
            <a:endParaRPr lang="en-US" sz="1100" dirty="0"/>
          </a:p>
        </p:txBody>
      </p:sp>
      <p:sp>
        <p:nvSpPr>
          <p:cNvPr id="11" name="Shape 8"/>
          <p:cNvSpPr/>
          <p:nvPr/>
        </p:nvSpPr>
        <p:spPr>
          <a:xfrm>
            <a:off x="4343400" y="2240280"/>
            <a:ext cx="3163824" cy="0"/>
          </a:xfrm>
          <a:prstGeom prst="line">
            <a:avLst/>
          </a:prstGeom>
          <a:noFill/>
          <a:ln w="15240">
            <a:solidFill>
              <a:srgbClr val="58A07D"/>
            </a:solidFill>
            <a:prstDash val="solid"/>
          </a:ln>
        </p:spPr>
      </p:sp>
      <p:sp>
        <p:nvSpPr>
          <p:cNvPr id="12" name="Text 9"/>
          <p:cNvSpPr/>
          <p:nvPr/>
        </p:nvSpPr>
        <p:spPr>
          <a:xfrm>
            <a:off x="4343400" y="2487168"/>
            <a:ext cx="2971800" cy="804672"/>
          </a:xfrm>
          <a:prstGeom prst="rect">
            <a:avLst/>
          </a:prstGeom>
          <a:noFill/>
          <a:ln/>
        </p:spPr>
        <p:txBody>
          <a:bodyPr wrap="square" lIns="0" tIns="0" rIns="0" bIns="0" rtlCol="0" anchor="t"/>
          <a:lstStyle/>
          <a:p>
            <a:pPr indent="0" marL="0">
              <a:buNone/>
            </a:pPr>
            <a:r>
              <a:rPr lang="en-US" sz="3400" b="1" dirty="0">
                <a:solidFill>
                  <a:srgbClr val="F7F4EC"/>
                </a:solidFill>
                <a:latin typeface="Georgia" pitchFamily="34" charset="0"/>
                <a:ea typeface="Georgia" pitchFamily="34" charset="-122"/>
                <a:cs typeface="Georgia" pitchFamily="34" charset="-120"/>
              </a:rPr>
              <a:t>38 %</a:t>
            </a:r>
            <a:endParaRPr lang="en-US" sz="3400" dirty="0"/>
          </a:p>
        </p:txBody>
      </p:sp>
      <p:sp>
        <p:nvSpPr>
          <p:cNvPr id="13" name="Text 10"/>
          <p:cNvSpPr/>
          <p:nvPr/>
        </p:nvSpPr>
        <p:spPr>
          <a:xfrm>
            <a:off x="4343400" y="3456432"/>
            <a:ext cx="3063240" cy="685800"/>
          </a:xfrm>
          <a:prstGeom prst="rect">
            <a:avLst/>
          </a:prstGeom>
          <a:noFill/>
          <a:ln/>
        </p:spPr>
        <p:txBody>
          <a:bodyPr wrap="square" lIns="0" tIns="0" rIns="0" bIns="0" rtlCol="0" anchor="t"/>
          <a:lstStyle/>
          <a:p>
            <a:pPr indent="0" marL="0">
              <a:buNone/>
            </a:pPr>
            <a:r>
              <a:rPr lang="en-US" sz="1100" dirty="0">
                <a:solidFill>
                  <a:srgbClr val="B8B3A6"/>
                </a:solidFill>
                <a:latin typeface="Arial" pitchFamily="34" charset="0"/>
                <a:ea typeface="Arial" pitchFamily="34" charset="-122"/>
                <a:cs typeface="Arial" pitchFamily="34" charset="-120"/>
              </a:rPr>
              <a:t>réalisent plus de 30 % de leur</a:t>
            </a:r>
            <a:endParaRPr lang="en-US" sz="1100" dirty="0"/>
          </a:p>
          <a:p>
            <a:pPr indent="0" marL="0">
              <a:buNone/>
            </a:pPr>
            <a:r>
              <a:rPr lang="en-US" sz="1100" dirty="0">
                <a:solidFill>
                  <a:srgbClr val="B8B3A6"/>
                </a:solidFill>
                <a:latin typeface="Arial" pitchFamily="34" charset="0"/>
                <a:ea typeface="Arial" pitchFamily="34" charset="-122"/>
                <a:cs typeface="Arial" pitchFamily="34" charset="-120"/>
              </a:rPr>
              <a:t>chiffre d’affaires grâce à internet</a:t>
            </a:r>
            <a:endParaRPr lang="en-US" sz="1100" dirty="0"/>
          </a:p>
        </p:txBody>
      </p:sp>
      <p:sp>
        <p:nvSpPr>
          <p:cNvPr id="14" name="Shape 11"/>
          <p:cNvSpPr/>
          <p:nvPr/>
        </p:nvSpPr>
        <p:spPr>
          <a:xfrm>
            <a:off x="8028432" y="2240280"/>
            <a:ext cx="3163824" cy="0"/>
          </a:xfrm>
          <a:prstGeom prst="line">
            <a:avLst/>
          </a:prstGeom>
          <a:noFill/>
          <a:ln w="15240">
            <a:solidFill>
              <a:srgbClr val="58A07D"/>
            </a:solidFill>
            <a:prstDash val="solid"/>
          </a:ln>
        </p:spPr>
      </p:sp>
      <p:sp>
        <p:nvSpPr>
          <p:cNvPr id="15" name="Text 12"/>
          <p:cNvSpPr/>
          <p:nvPr/>
        </p:nvSpPr>
        <p:spPr>
          <a:xfrm>
            <a:off x="8028432" y="2487168"/>
            <a:ext cx="2971800" cy="804672"/>
          </a:xfrm>
          <a:prstGeom prst="rect">
            <a:avLst/>
          </a:prstGeom>
          <a:noFill/>
          <a:ln/>
        </p:spPr>
        <p:txBody>
          <a:bodyPr wrap="square" lIns="0" tIns="0" rIns="0" bIns="0" rtlCol="0" anchor="t"/>
          <a:lstStyle/>
          <a:p>
            <a:pPr indent="0" marL="0">
              <a:buNone/>
            </a:pPr>
            <a:r>
              <a:rPr lang="en-US" sz="3400" b="1" dirty="0">
                <a:solidFill>
                  <a:srgbClr val="F7F4EC"/>
                </a:solidFill>
                <a:latin typeface="Georgia" pitchFamily="34" charset="0"/>
                <a:ea typeface="Georgia" pitchFamily="34" charset="-122"/>
                <a:cs typeface="Georgia" pitchFamily="34" charset="-120"/>
              </a:rPr>
              <a:t>78 %</a:t>
            </a:r>
            <a:endParaRPr lang="en-US" sz="3400" dirty="0"/>
          </a:p>
        </p:txBody>
      </p:sp>
      <p:sp>
        <p:nvSpPr>
          <p:cNvPr id="16" name="Text 13"/>
          <p:cNvSpPr/>
          <p:nvPr/>
        </p:nvSpPr>
        <p:spPr>
          <a:xfrm>
            <a:off x="8028432" y="3456432"/>
            <a:ext cx="3063240" cy="685800"/>
          </a:xfrm>
          <a:prstGeom prst="rect">
            <a:avLst/>
          </a:prstGeom>
          <a:noFill/>
          <a:ln/>
        </p:spPr>
        <p:txBody>
          <a:bodyPr wrap="square" lIns="0" tIns="0" rIns="0" bIns="0" rtlCol="0" anchor="t"/>
          <a:lstStyle/>
          <a:p>
            <a:pPr indent="0" marL="0">
              <a:buNone/>
            </a:pPr>
            <a:r>
              <a:rPr lang="en-US" sz="1100" dirty="0">
                <a:solidFill>
                  <a:srgbClr val="B8B3A6"/>
                </a:solidFill>
                <a:latin typeface="Arial" pitchFamily="34" charset="0"/>
                <a:ea typeface="Arial" pitchFamily="34" charset="-122"/>
                <a:cs typeface="Arial" pitchFamily="34" charset="-120"/>
              </a:rPr>
              <a:t>des dirigeants de TPE-PME voient</a:t>
            </a:r>
            <a:endParaRPr lang="en-US" sz="1100" dirty="0"/>
          </a:p>
          <a:p>
            <a:pPr indent="0" marL="0">
              <a:buNone/>
            </a:pPr>
            <a:r>
              <a:rPr lang="en-US" sz="1100" dirty="0">
                <a:solidFill>
                  <a:srgbClr val="B8B3A6"/>
                </a:solidFill>
                <a:latin typeface="Arial" pitchFamily="34" charset="0"/>
                <a:ea typeface="Arial" pitchFamily="34" charset="-122"/>
                <a:cs typeface="Arial" pitchFamily="34" charset="-120"/>
              </a:rPr>
              <a:t>des bénéfices réels dans le numérique</a:t>
            </a:r>
            <a:endParaRPr lang="en-US" sz="1100" dirty="0"/>
          </a:p>
        </p:txBody>
      </p:sp>
      <p:sp>
        <p:nvSpPr>
          <p:cNvPr id="17" name="Shape 14"/>
          <p:cNvSpPr/>
          <p:nvPr/>
        </p:nvSpPr>
        <p:spPr>
          <a:xfrm>
            <a:off x="658368" y="4800600"/>
            <a:ext cx="10808208" cy="960120"/>
          </a:xfrm>
          <a:prstGeom prst="roundRect">
            <a:avLst>
              <a:gd name="adj" fmla="val 3810"/>
            </a:avLst>
          </a:prstGeom>
          <a:solidFill>
            <a:srgbClr val="252A22">
              <a:alpha val="95000"/>
            </a:srgbClr>
          </a:solidFill>
          <a:ln w="10160">
            <a:solidFill>
              <a:srgbClr val="383C32"/>
            </a:solidFill>
            <a:prstDash val="solid"/>
          </a:ln>
        </p:spPr>
      </p:sp>
      <p:sp>
        <p:nvSpPr>
          <p:cNvPr id="18" name="Text 15"/>
          <p:cNvSpPr/>
          <p:nvPr/>
        </p:nvSpPr>
        <p:spPr>
          <a:xfrm>
            <a:off x="932688" y="5010912"/>
            <a:ext cx="4160520" cy="246888"/>
          </a:xfrm>
          <a:prstGeom prst="rect">
            <a:avLst/>
          </a:prstGeom>
          <a:noFill/>
          <a:ln/>
        </p:spPr>
        <p:txBody>
          <a:bodyPr wrap="square" lIns="0" tIns="0" rIns="0" bIns="0" rtlCol="0" anchor="ctr"/>
          <a:lstStyle/>
          <a:p>
            <a:pPr indent="0" marL="0">
              <a:buNone/>
            </a:pPr>
            <a:r>
              <a:rPr lang="en-US" sz="1500" b="1" dirty="0">
                <a:solidFill>
                  <a:srgbClr val="F7F4EC"/>
                </a:solidFill>
                <a:latin typeface="Georgia" pitchFamily="34" charset="0"/>
                <a:ea typeface="Georgia" pitchFamily="34" charset="-122"/>
                <a:cs typeface="Georgia" pitchFamily="34" charset="-120"/>
              </a:rPr>
              <a:t>Le site ne remplace pas le travail du vigneron.</a:t>
            </a:r>
            <a:endParaRPr lang="en-US" sz="1500" dirty="0"/>
          </a:p>
        </p:txBody>
      </p:sp>
      <p:sp>
        <p:nvSpPr>
          <p:cNvPr id="19" name="Text 16"/>
          <p:cNvSpPr/>
          <p:nvPr/>
        </p:nvSpPr>
        <p:spPr>
          <a:xfrm>
            <a:off x="4828032" y="5029200"/>
            <a:ext cx="6080760" cy="274320"/>
          </a:xfrm>
          <a:prstGeom prst="rect">
            <a:avLst/>
          </a:prstGeom>
          <a:noFill/>
          <a:ln/>
        </p:spPr>
        <p:txBody>
          <a:bodyPr wrap="square" lIns="0" tIns="0" rIns="0" bIns="0" rtlCol="0" anchor="ctr"/>
          <a:lstStyle/>
          <a:p>
            <a:pPr indent="0" marL="0">
              <a:buNone/>
            </a:pPr>
            <a:r>
              <a:rPr lang="en-US" sz="1100" dirty="0">
                <a:solidFill>
                  <a:srgbClr val="58A07D"/>
                </a:solidFill>
                <a:latin typeface="Arial" pitchFamily="34" charset="0"/>
                <a:ea typeface="Arial" pitchFamily="34" charset="-122"/>
                <a:cs typeface="Arial" pitchFamily="34" charset="-120"/>
              </a:rPr>
              <a:t>Il donne envie de venir le découvrir, de l’appeler et de commander en direct.</a:t>
            </a:r>
            <a:endParaRPr lang="en-US" sz="1100" dirty="0"/>
          </a:p>
        </p:txBody>
      </p:sp>
      <p:sp>
        <p:nvSpPr>
          <p:cNvPr id="20" name="Shape 17"/>
          <p:cNvSpPr/>
          <p:nvPr/>
        </p:nvSpPr>
        <p:spPr>
          <a:xfrm>
            <a:off x="658368" y="6528816"/>
            <a:ext cx="10863072" cy="0"/>
          </a:xfrm>
          <a:prstGeom prst="line">
            <a:avLst/>
          </a:prstGeom>
          <a:noFill/>
          <a:ln w="8890">
            <a:solidFill>
              <a:srgbClr val="383C32"/>
            </a:solidFill>
            <a:prstDash val="solid"/>
          </a:ln>
        </p:spPr>
      </p:sp>
      <p:sp>
        <p:nvSpPr>
          <p:cNvPr id="21" name="Text 18"/>
          <p:cNvSpPr/>
          <p:nvPr/>
        </p:nvSpPr>
        <p:spPr>
          <a:xfrm>
            <a:off x="658368" y="6574536"/>
            <a:ext cx="9966960" cy="146304"/>
          </a:xfrm>
          <a:prstGeom prst="rect">
            <a:avLst/>
          </a:prstGeom>
          <a:noFill/>
          <a:ln/>
        </p:spPr>
        <p:txBody>
          <a:bodyPr wrap="square" lIns="0" tIns="0" rIns="0" bIns="0" rtlCol="0" anchor="t"/>
          <a:lstStyle/>
          <a:p>
            <a:pPr indent="0" marL="0">
              <a:buNone/>
            </a:pPr>
            <a:r>
              <a:rPr lang="en-US" sz="640" dirty="0">
                <a:solidFill>
                  <a:srgbClr val="B8B3A6"/>
                </a:solidFill>
                <a:latin typeface="Arial" pitchFamily="34" charset="0"/>
                <a:ea typeface="Arial" pitchFamily="34" charset="-122"/>
                <a:cs typeface="Arial" pitchFamily="34" charset="-120"/>
              </a:rPr>
              <a:t>Sources : Afnic, « La présence en ligne des professionnels de l’agriculture en 2025 » (avec MV2) ; Baromètre France Num 2025.</a:t>
            </a:r>
            <a:endParaRPr lang="en-US" sz="640" dirty="0"/>
          </a:p>
        </p:txBody>
      </p:sp>
      <p:sp>
        <p:nvSpPr>
          <p:cNvPr id="22" name="Text 19"/>
          <p:cNvSpPr/>
          <p:nvPr/>
        </p:nvSpPr>
        <p:spPr>
          <a:xfrm>
            <a:off x="11045952" y="6556248"/>
            <a:ext cx="475488" cy="164592"/>
          </a:xfrm>
          <a:prstGeom prst="rect">
            <a:avLst/>
          </a:prstGeom>
          <a:noFill/>
          <a:ln/>
        </p:spPr>
        <p:txBody>
          <a:bodyPr wrap="square" lIns="0" tIns="0" rIns="0" bIns="0" rtlCol="0" anchor="ctr"/>
          <a:lstStyle/>
          <a:p>
            <a:pPr algn="r" indent="0" marL="0">
              <a:buNone/>
            </a:pPr>
            <a:r>
              <a:rPr lang="en-US" sz="750" b="1" dirty="0">
                <a:solidFill>
                  <a:srgbClr val="58A07D"/>
                </a:solidFill>
                <a:latin typeface="Arial" pitchFamily="34" charset="0"/>
                <a:ea typeface="Arial" pitchFamily="34" charset="-122"/>
                <a:cs typeface="Arial" pitchFamily="34" charset="-120"/>
              </a:rPr>
              <a:t>04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EFE6"/>
        </a:solidFill>
      </p:bgPr>
    </p:bg>
    <p:spTree>
      <p:nvGrpSpPr>
        <p:cNvPr id="1" name=""/>
        <p:cNvGrpSpPr/>
        <p:nvPr/>
      </p:nvGrpSpPr>
      <p:grpSpPr>
        <a:xfrm>
          <a:off x="0" y="0"/>
          <a:ext cx="0" cy="0"/>
          <a:chOff x="0" y="0"/>
          <a:chExt cx="0" cy="0"/>
        </a:xfrm>
      </p:grpSpPr>
      <p:sp>
        <p:nvSpPr>
          <p:cNvPr id="2" name="Shape 0"/>
          <p:cNvSpPr/>
          <p:nvPr/>
        </p:nvSpPr>
        <p:spPr>
          <a:xfrm>
            <a:off x="658368" y="516636"/>
            <a:ext cx="256032" cy="0"/>
          </a:xfrm>
          <a:prstGeom prst="line">
            <a:avLst/>
          </a:prstGeom>
          <a:noFill/>
          <a:ln w="16510">
            <a:solidFill>
              <a:srgbClr val="2F7057"/>
            </a:solidFill>
            <a:prstDash val="solid"/>
          </a:ln>
        </p:spPr>
      </p:sp>
      <p:sp>
        <p:nvSpPr>
          <p:cNvPr id="3" name="Text 1"/>
          <p:cNvSpPr/>
          <p:nvPr/>
        </p:nvSpPr>
        <p:spPr>
          <a:xfrm>
            <a:off x="1042416" y="420624"/>
            <a:ext cx="4297680" cy="219456"/>
          </a:xfrm>
          <a:prstGeom prst="rect">
            <a:avLst/>
          </a:prstGeom>
          <a:noFill/>
          <a:ln/>
        </p:spPr>
        <p:txBody>
          <a:bodyPr wrap="square" lIns="0" tIns="0" rIns="0" bIns="0" rtlCol="0" anchor="ctr"/>
          <a:lstStyle/>
          <a:p>
            <a:pPr indent="0" marL="0">
              <a:buNone/>
            </a:pPr>
            <a:r>
              <a:rPr lang="en-US" sz="850" b="1" spc="180" kern="0" dirty="0">
                <a:solidFill>
                  <a:srgbClr val="2F7057"/>
                </a:solidFill>
                <a:latin typeface="Arial" pitchFamily="34" charset="0"/>
                <a:ea typeface="Arial" pitchFamily="34" charset="-122"/>
                <a:cs typeface="Arial" pitchFamily="34" charset="-120"/>
              </a:rPr>
              <a:t>DOMAINE CHRISTOPHE PATRICE</a:t>
            </a:r>
            <a:endParaRPr lang="en-US" sz="850" dirty="0"/>
          </a:p>
        </p:txBody>
      </p:sp>
      <p:sp>
        <p:nvSpPr>
          <p:cNvPr id="4" name="Text 2"/>
          <p:cNvSpPr/>
          <p:nvPr/>
        </p:nvSpPr>
        <p:spPr>
          <a:xfrm>
            <a:off x="658368" y="786384"/>
            <a:ext cx="10881360" cy="566928"/>
          </a:xfrm>
          <a:prstGeom prst="rect">
            <a:avLst/>
          </a:prstGeom>
          <a:noFill/>
          <a:ln/>
        </p:spPr>
        <p:txBody>
          <a:bodyPr wrap="square" lIns="0" tIns="0" rIns="0" bIns="0" rtlCol="0" anchor="t"/>
          <a:lstStyle/>
          <a:p>
            <a:pPr indent="0" marL="0">
              <a:buNone/>
            </a:pPr>
            <a:r>
              <a:rPr lang="en-US" sz="2600" b="1" dirty="0">
                <a:solidFill>
                  <a:srgbClr val="20231E"/>
                </a:solidFill>
                <a:latin typeface="Georgia" pitchFamily="34" charset="0"/>
                <a:ea typeface="Georgia" pitchFamily="34" charset="-122"/>
                <a:cs typeface="Georgia" pitchFamily="34" charset="-120"/>
              </a:rPr>
              <a:t>La vérité avant la mise en ligne.</a:t>
            </a:r>
            <a:endParaRPr lang="en-US" sz="2600" dirty="0"/>
          </a:p>
        </p:txBody>
      </p:sp>
      <p:sp>
        <p:nvSpPr>
          <p:cNvPr id="5" name="Text 3"/>
          <p:cNvSpPr/>
          <p:nvPr/>
        </p:nvSpPr>
        <p:spPr>
          <a:xfrm>
            <a:off x="658368" y="1389888"/>
            <a:ext cx="10424160" cy="347472"/>
          </a:xfrm>
          <a:prstGeom prst="rect">
            <a:avLst/>
          </a:prstGeom>
          <a:noFill/>
          <a:ln/>
        </p:spPr>
        <p:txBody>
          <a:bodyPr wrap="square" lIns="0" tIns="0" rIns="0" bIns="0" rtlCol="0" anchor="t"/>
          <a:lstStyle/>
          <a:p>
            <a:pPr indent="0" marL="0">
              <a:buNone/>
            </a:pPr>
            <a:r>
              <a:rPr lang="en-US" sz="1150" dirty="0">
                <a:solidFill>
                  <a:srgbClr val="5A5E55"/>
                </a:solidFill>
                <a:latin typeface="Arial" pitchFamily="34" charset="0"/>
                <a:ea typeface="Arial" pitchFamily="34" charset="-122"/>
                <a:cs typeface="Arial" pitchFamily="34" charset="-120"/>
              </a:rPr>
              <a:t>La maquette distingue ce qui est documenté de ce qui doit encore être validé avec le domaine.</a:t>
            </a:r>
            <a:endParaRPr lang="en-US" sz="1150" dirty="0"/>
          </a:p>
        </p:txBody>
      </p:sp>
      <p:sp>
        <p:nvSpPr>
          <p:cNvPr id="6" name="Shape 4"/>
          <p:cNvSpPr/>
          <p:nvPr/>
        </p:nvSpPr>
        <p:spPr>
          <a:xfrm>
            <a:off x="658368" y="1901952"/>
            <a:ext cx="5138928" cy="3611880"/>
          </a:xfrm>
          <a:prstGeom prst="roundRect">
            <a:avLst>
              <a:gd name="adj" fmla="val 1013"/>
            </a:avLst>
          </a:prstGeom>
          <a:solidFill>
            <a:srgbClr val="E2ECE6"/>
          </a:solidFill>
          <a:ln w="11430">
            <a:solidFill>
              <a:srgbClr val="AFC8B9"/>
            </a:solidFill>
            <a:prstDash val="solid"/>
          </a:ln>
        </p:spPr>
      </p:sp>
      <p:sp>
        <p:nvSpPr>
          <p:cNvPr id="7" name="Text 5"/>
          <p:cNvSpPr/>
          <p:nvPr/>
        </p:nvSpPr>
        <p:spPr>
          <a:xfrm>
            <a:off x="932688" y="2157984"/>
            <a:ext cx="3200400" cy="201168"/>
          </a:xfrm>
          <a:prstGeom prst="rect">
            <a:avLst/>
          </a:prstGeom>
          <a:noFill/>
          <a:ln/>
        </p:spPr>
        <p:txBody>
          <a:bodyPr wrap="square" lIns="0" tIns="0" rIns="0" bIns="0" rtlCol="0" anchor="ctr"/>
          <a:lstStyle/>
          <a:p>
            <a:pPr indent="0" marL="0">
              <a:buNone/>
            </a:pPr>
            <a:r>
              <a:rPr lang="en-US" sz="850" b="1" spc="130" kern="0" dirty="0">
                <a:solidFill>
                  <a:srgbClr val="2F7057"/>
                </a:solidFill>
                <a:latin typeface="Arial" pitchFamily="34" charset="0"/>
                <a:ea typeface="Arial" pitchFamily="34" charset="-122"/>
                <a:cs typeface="Arial" pitchFamily="34" charset="-120"/>
              </a:rPr>
              <a:t>INFORMATIONS DOCUMENTÉES</a:t>
            </a:r>
            <a:endParaRPr lang="en-US" sz="850" dirty="0"/>
          </a:p>
        </p:txBody>
      </p:sp>
      <p:sp>
        <p:nvSpPr>
          <p:cNvPr id="8" name="Text 6"/>
          <p:cNvSpPr/>
          <p:nvPr/>
        </p:nvSpPr>
        <p:spPr>
          <a:xfrm>
            <a:off x="941832" y="2624328"/>
            <a:ext cx="256032" cy="201168"/>
          </a:xfrm>
          <a:prstGeom prst="rect">
            <a:avLst/>
          </a:prstGeom>
          <a:noFill/>
          <a:ln/>
        </p:spPr>
        <p:txBody>
          <a:bodyPr wrap="square" lIns="0" tIns="0" rIns="0" bIns="0" rtlCol="0" anchor="ctr"/>
          <a:lstStyle/>
          <a:p>
            <a:pPr algn="ctr" indent="0" marL="0">
              <a:buNone/>
            </a:pPr>
            <a:r>
              <a:rPr lang="en-US" sz="1100" b="1" dirty="0">
                <a:solidFill>
                  <a:srgbClr val="2F7057"/>
                </a:solidFill>
                <a:latin typeface="Arial" pitchFamily="34" charset="0"/>
                <a:ea typeface="Arial" pitchFamily="34" charset="-122"/>
                <a:cs typeface="Arial" pitchFamily="34" charset="-120"/>
              </a:rPr>
              <a:t>✓</a:t>
            </a:r>
            <a:endParaRPr lang="en-US" sz="1100" dirty="0"/>
          </a:p>
        </p:txBody>
      </p:sp>
      <p:sp>
        <p:nvSpPr>
          <p:cNvPr id="9" name="Text 7"/>
          <p:cNvSpPr/>
          <p:nvPr/>
        </p:nvSpPr>
        <p:spPr>
          <a:xfrm>
            <a:off x="1298448" y="2606040"/>
            <a:ext cx="3977640" cy="246888"/>
          </a:xfrm>
          <a:prstGeom prst="rect">
            <a:avLst/>
          </a:prstGeom>
          <a:noFill/>
          <a:ln/>
        </p:spPr>
        <p:txBody>
          <a:bodyPr wrap="square" lIns="0" tIns="0" rIns="0" bIns="0" rtlCol="0" anchor="ctr"/>
          <a:lstStyle/>
          <a:p>
            <a:pPr indent="0" marL="0">
              <a:buNone/>
            </a:pPr>
            <a:r>
              <a:rPr lang="en-US" sz="1020" dirty="0">
                <a:solidFill>
                  <a:srgbClr val="20231E"/>
                </a:solidFill>
                <a:latin typeface="Arial" pitchFamily="34" charset="0"/>
                <a:ea typeface="Arial" pitchFamily="34" charset="-122"/>
                <a:cs typeface="Arial" pitchFamily="34" charset="-120"/>
              </a:rPr>
              <a:t>1996 · 2006 · 2011 : étapes de l’histoire</a:t>
            </a:r>
            <a:endParaRPr lang="en-US" sz="1020" dirty="0"/>
          </a:p>
        </p:txBody>
      </p:sp>
      <p:sp>
        <p:nvSpPr>
          <p:cNvPr id="10" name="Text 8"/>
          <p:cNvSpPr/>
          <p:nvPr/>
        </p:nvSpPr>
        <p:spPr>
          <a:xfrm>
            <a:off x="941832" y="3108960"/>
            <a:ext cx="256032" cy="201168"/>
          </a:xfrm>
          <a:prstGeom prst="rect">
            <a:avLst/>
          </a:prstGeom>
          <a:noFill/>
          <a:ln/>
        </p:spPr>
        <p:txBody>
          <a:bodyPr wrap="square" lIns="0" tIns="0" rIns="0" bIns="0" rtlCol="0" anchor="ctr"/>
          <a:lstStyle/>
          <a:p>
            <a:pPr algn="ctr" indent="0" marL="0">
              <a:buNone/>
            </a:pPr>
            <a:r>
              <a:rPr lang="en-US" sz="1100" b="1" dirty="0">
                <a:solidFill>
                  <a:srgbClr val="2F7057"/>
                </a:solidFill>
                <a:latin typeface="Arial" pitchFamily="34" charset="0"/>
                <a:ea typeface="Arial" pitchFamily="34" charset="-122"/>
                <a:cs typeface="Arial" pitchFamily="34" charset="-120"/>
              </a:rPr>
              <a:t>✓</a:t>
            </a:r>
            <a:endParaRPr lang="en-US" sz="1100" dirty="0"/>
          </a:p>
        </p:txBody>
      </p:sp>
      <p:sp>
        <p:nvSpPr>
          <p:cNvPr id="11" name="Text 9"/>
          <p:cNvSpPr/>
          <p:nvPr/>
        </p:nvSpPr>
        <p:spPr>
          <a:xfrm>
            <a:off x="1298448" y="3090672"/>
            <a:ext cx="3977640" cy="246888"/>
          </a:xfrm>
          <a:prstGeom prst="rect">
            <a:avLst/>
          </a:prstGeom>
          <a:noFill/>
          <a:ln/>
        </p:spPr>
        <p:txBody>
          <a:bodyPr wrap="square" lIns="0" tIns="0" rIns="0" bIns="0" rtlCol="0" anchor="ctr"/>
          <a:lstStyle/>
          <a:p>
            <a:pPr indent="0" marL="0">
              <a:buNone/>
            </a:pPr>
            <a:r>
              <a:rPr lang="en-US" sz="1020" dirty="0">
                <a:solidFill>
                  <a:srgbClr val="20231E"/>
                </a:solidFill>
                <a:latin typeface="Arial" pitchFamily="34" charset="0"/>
                <a:ea typeface="Arial" pitchFamily="34" charset="-122"/>
                <a:cs typeface="Arial" pitchFamily="34" charset="-120"/>
              </a:rPr>
              <a:t>Adresses et horaires de Beine et Irancy</a:t>
            </a:r>
            <a:endParaRPr lang="en-US" sz="1020" dirty="0"/>
          </a:p>
        </p:txBody>
      </p:sp>
      <p:sp>
        <p:nvSpPr>
          <p:cNvPr id="12" name="Text 10"/>
          <p:cNvSpPr/>
          <p:nvPr/>
        </p:nvSpPr>
        <p:spPr>
          <a:xfrm>
            <a:off x="941832" y="3593592"/>
            <a:ext cx="256032" cy="201168"/>
          </a:xfrm>
          <a:prstGeom prst="rect">
            <a:avLst/>
          </a:prstGeom>
          <a:noFill/>
          <a:ln/>
        </p:spPr>
        <p:txBody>
          <a:bodyPr wrap="square" lIns="0" tIns="0" rIns="0" bIns="0" rtlCol="0" anchor="ctr"/>
          <a:lstStyle/>
          <a:p>
            <a:pPr algn="ctr" indent="0" marL="0">
              <a:buNone/>
            </a:pPr>
            <a:r>
              <a:rPr lang="en-US" sz="1100" b="1" dirty="0">
                <a:solidFill>
                  <a:srgbClr val="2F7057"/>
                </a:solidFill>
                <a:latin typeface="Arial" pitchFamily="34" charset="0"/>
                <a:ea typeface="Arial" pitchFamily="34" charset="-122"/>
                <a:cs typeface="Arial" pitchFamily="34" charset="-120"/>
              </a:rPr>
              <a:t>✓</a:t>
            </a:r>
            <a:endParaRPr lang="en-US" sz="1100" dirty="0"/>
          </a:p>
        </p:txBody>
      </p:sp>
      <p:sp>
        <p:nvSpPr>
          <p:cNvPr id="13" name="Text 11"/>
          <p:cNvSpPr/>
          <p:nvPr/>
        </p:nvSpPr>
        <p:spPr>
          <a:xfrm>
            <a:off x="1298448" y="3575304"/>
            <a:ext cx="3977640" cy="246888"/>
          </a:xfrm>
          <a:prstGeom prst="rect">
            <a:avLst/>
          </a:prstGeom>
          <a:noFill/>
          <a:ln/>
        </p:spPr>
        <p:txBody>
          <a:bodyPr wrap="square" lIns="0" tIns="0" rIns="0" bIns="0" rtlCol="0" anchor="ctr"/>
          <a:lstStyle/>
          <a:p>
            <a:pPr indent="0" marL="0">
              <a:buNone/>
            </a:pPr>
            <a:r>
              <a:rPr lang="en-US" sz="1020" dirty="0">
                <a:solidFill>
                  <a:srgbClr val="20231E"/>
                </a:solidFill>
                <a:latin typeface="Arial" pitchFamily="34" charset="0"/>
                <a:ea typeface="Arial" pitchFamily="34" charset="-122"/>
                <a:cs typeface="Arial" pitchFamily="34" charset="-120"/>
              </a:rPr>
              <a:t>Densité annoncée de 5 800 pieds / hectare</a:t>
            </a:r>
            <a:endParaRPr lang="en-US" sz="1020" dirty="0"/>
          </a:p>
        </p:txBody>
      </p:sp>
      <p:sp>
        <p:nvSpPr>
          <p:cNvPr id="14" name="Text 12"/>
          <p:cNvSpPr/>
          <p:nvPr/>
        </p:nvSpPr>
        <p:spPr>
          <a:xfrm>
            <a:off x="941832" y="4078224"/>
            <a:ext cx="256032" cy="201168"/>
          </a:xfrm>
          <a:prstGeom prst="rect">
            <a:avLst/>
          </a:prstGeom>
          <a:noFill/>
          <a:ln/>
        </p:spPr>
        <p:txBody>
          <a:bodyPr wrap="square" lIns="0" tIns="0" rIns="0" bIns="0" rtlCol="0" anchor="ctr"/>
          <a:lstStyle/>
          <a:p>
            <a:pPr algn="ctr" indent="0" marL="0">
              <a:buNone/>
            </a:pPr>
            <a:r>
              <a:rPr lang="en-US" sz="1100" b="1" dirty="0">
                <a:solidFill>
                  <a:srgbClr val="2F7057"/>
                </a:solidFill>
                <a:latin typeface="Arial" pitchFamily="34" charset="0"/>
                <a:ea typeface="Arial" pitchFamily="34" charset="-122"/>
                <a:cs typeface="Arial" pitchFamily="34" charset="-120"/>
              </a:rPr>
              <a:t>✓</a:t>
            </a:r>
            <a:endParaRPr lang="en-US" sz="1100" dirty="0"/>
          </a:p>
        </p:txBody>
      </p:sp>
      <p:sp>
        <p:nvSpPr>
          <p:cNvPr id="15" name="Text 13"/>
          <p:cNvSpPr/>
          <p:nvPr/>
        </p:nvSpPr>
        <p:spPr>
          <a:xfrm>
            <a:off x="1298448" y="4059936"/>
            <a:ext cx="3977640" cy="246888"/>
          </a:xfrm>
          <a:prstGeom prst="rect">
            <a:avLst/>
          </a:prstGeom>
          <a:noFill/>
          <a:ln/>
        </p:spPr>
        <p:txBody>
          <a:bodyPr wrap="square" lIns="0" tIns="0" rIns="0" bIns="0" rtlCol="0" anchor="ctr"/>
          <a:lstStyle/>
          <a:p>
            <a:pPr indent="0" marL="0">
              <a:buNone/>
            </a:pPr>
            <a:r>
              <a:rPr lang="en-US" sz="1020" dirty="0">
                <a:solidFill>
                  <a:srgbClr val="20231E"/>
                </a:solidFill>
                <a:latin typeface="Arial" pitchFamily="34" charset="0"/>
                <a:ea typeface="Arial" pitchFamily="34" charset="-122"/>
                <a:cs typeface="Arial" pitchFamily="34" charset="-120"/>
              </a:rPr>
              <a:t>Services, gîte et livraison à partir de 60 bouteilles</a:t>
            </a:r>
            <a:endParaRPr lang="en-US" sz="1020" dirty="0"/>
          </a:p>
        </p:txBody>
      </p:sp>
      <p:sp>
        <p:nvSpPr>
          <p:cNvPr id="16" name="Text 14"/>
          <p:cNvSpPr/>
          <p:nvPr/>
        </p:nvSpPr>
        <p:spPr>
          <a:xfrm>
            <a:off x="941832" y="4562856"/>
            <a:ext cx="256032" cy="201168"/>
          </a:xfrm>
          <a:prstGeom prst="rect">
            <a:avLst/>
          </a:prstGeom>
          <a:noFill/>
          <a:ln/>
        </p:spPr>
        <p:txBody>
          <a:bodyPr wrap="square" lIns="0" tIns="0" rIns="0" bIns="0" rtlCol="0" anchor="ctr"/>
          <a:lstStyle/>
          <a:p>
            <a:pPr algn="ctr" indent="0" marL="0">
              <a:buNone/>
            </a:pPr>
            <a:r>
              <a:rPr lang="en-US" sz="1100" b="1" dirty="0">
                <a:solidFill>
                  <a:srgbClr val="2F7057"/>
                </a:solidFill>
                <a:latin typeface="Arial" pitchFamily="34" charset="0"/>
                <a:ea typeface="Arial" pitchFamily="34" charset="-122"/>
                <a:cs typeface="Arial" pitchFamily="34" charset="-120"/>
              </a:rPr>
              <a:t>✓</a:t>
            </a:r>
            <a:endParaRPr lang="en-US" sz="1100" dirty="0"/>
          </a:p>
        </p:txBody>
      </p:sp>
      <p:sp>
        <p:nvSpPr>
          <p:cNvPr id="17" name="Text 15"/>
          <p:cNvSpPr/>
          <p:nvPr/>
        </p:nvSpPr>
        <p:spPr>
          <a:xfrm>
            <a:off x="1298448" y="4544568"/>
            <a:ext cx="3977640" cy="246888"/>
          </a:xfrm>
          <a:prstGeom prst="rect">
            <a:avLst/>
          </a:prstGeom>
          <a:noFill/>
          <a:ln/>
        </p:spPr>
        <p:txBody>
          <a:bodyPr wrap="square" lIns="0" tIns="0" rIns="0" bIns="0" rtlCol="0" anchor="ctr"/>
          <a:lstStyle/>
          <a:p>
            <a:pPr indent="0" marL="0">
              <a:buNone/>
            </a:pPr>
            <a:r>
              <a:rPr lang="en-US" sz="1020" dirty="0">
                <a:solidFill>
                  <a:srgbClr val="20231E"/>
                </a:solidFill>
                <a:latin typeface="Arial" pitchFamily="34" charset="0"/>
                <a:ea typeface="Arial" pitchFamily="34" charset="-122"/>
                <a:cs typeface="Arial" pitchFamily="34" charset="-120"/>
              </a:rPr>
              <a:t>Archives de distinctions 2019–2020</a:t>
            </a:r>
            <a:endParaRPr lang="en-US" sz="1020" dirty="0"/>
          </a:p>
        </p:txBody>
      </p:sp>
      <p:sp>
        <p:nvSpPr>
          <p:cNvPr id="18" name="Shape 16"/>
          <p:cNvSpPr/>
          <p:nvPr/>
        </p:nvSpPr>
        <p:spPr>
          <a:xfrm>
            <a:off x="6126480" y="1901952"/>
            <a:ext cx="5413248" cy="3611880"/>
          </a:xfrm>
          <a:prstGeom prst="roundRect">
            <a:avLst>
              <a:gd name="adj" fmla="val 1013"/>
            </a:avLst>
          </a:prstGeom>
          <a:solidFill>
            <a:srgbClr val="FAF8F2"/>
          </a:solidFill>
          <a:ln w="11430">
            <a:solidFill>
              <a:srgbClr val="CEC8BA"/>
            </a:solidFill>
            <a:prstDash val="solid"/>
          </a:ln>
        </p:spPr>
      </p:sp>
      <p:sp>
        <p:nvSpPr>
          <p:cNvPr id="19" name="Text 17"/>
          <p:cNvSpPr/>
          <p:nvPr/>
        </p:nvSpPr>
        <p:spPr>
          <a:xfrm>
            <a:off x="6400800" y="2157984"/>
            <a:ext cx="3566160" cy="201168"/>
          </a:xfrm>
          <a:prstGeom prst="rect">
            <a:avLst/>
          </a:prstGeom>
          <a:noFill/>
          <a:ln/>
        </p:spPr>
        <p:txBody>
          <a:bodyPr wrap="square" lIns="0" tIns="0" rIns="0" bIns="0" rtlCol="0" anchor="ctr"/>
          <a:lstStyle/>
          <a:p>
            <a:pPr indent="0" marL="0">
              <a:buNone/>
            </a:pPr>
            <a:r>
              <a:rPr lang="en-US" sz="850" b="1" spc="130" kern="0" dirty="0">
                <a:solidFill>
                  <a:srgbClr val="5A5E55"/>
                </a:solidFill>
                <a:latin typeface="Arial" pitchFamily="34" charset="0"/>
                <a:ea typeface="Arial" pitchFamily="34" charset="-122"/>
                <a:cs typeface="Arial" pitchFamily="34" charset="-120"/>
              </a:rPr>
              <a:t>À CONFIRMER AVEC CHRISTOPHE</a:t>
            </a:r>
            <a:endParaRPr lang="en-US" sz="850" dirty="0"/>
          </a:p>
        </p:txBody>
      </p:sp>
      <p:sp>
        <p:nvSpPr>
          <p:cNvPr id="20" name="Text 18"/>
          <p:cNvSpPr/>
          <p:nvPr/>
        </p:nvSpPr>
        <p:spPr>
          <a:xfrm>
            <a:off x="6419088" y="2606040"/>
            <a:ext cx="347472" cy="201168"/>
          </a:xfrm>
          <a:prstGeom prst="rect">
            <a:avLst/>
          </a:prstGeom>
          <a:noFill/>
          <a:ln/>
        </p:spPr>
        <p:txBody>
          <a:bodyPr wrap="square" lIns="0" tIns="0" rIns="0" bIns="0" rtlCol="0" anchor="ctr"/>
          <a:lstStyle/>
          <a:p>
            <a:pPr algn="ctr" indent="0" marL="0">
              <a:buNone/>
            </a:pPr>
            <a:r>
              <a:rPr lang="en-US" sz="850" b="1" dirty="0">
                <a:solidFill>
                  <a:srgbClr val="2F7057"/>
                </a:solidFill>
                <a:latin typeface="Arial" pitchFamily="34" charset="0"/>
                <a:ea typeface="Arial" pitchFamily="34" charset="-122"/>
                <a:cs typeface="Arial" pitchFamily="34" charset="-120"/>
              </a:rPr>
              <a:t>01</a:t>
            </a:r>
            <a:endParaRPr lang="en-US" sz="850" dirty="0"/>
          </a:p>
        </p:txBody>
      </p:sp>
      <p:sp>
        <p:nvSpPr>
          <p:cNvPr id="21" name="Text 19"/>
          <p:cNvSpPr/>
          <p:nvPr/>
        </p:nvSpPr>
        <p:spPr>
          <a:xfrm>
            <a:off x="6894576" y="2587752"/>
            <a:ext cx="4041648" cy="283464"/>
          </a:xfrm>
          <a:prstGeom prst="rect">
            <a:avLst/>
          </a:prstGeom>
          <a:noFill/>
          <a:ln/>
        </p:spPr>
        <p:txBody>
          <a:bodyPr wrap="square" lIns="0" tIns="0" rIns="0" bIns="0" rtlCol="0" anchor="ctr"/>
          <a:lstStyle/>
          <a:p>
            <a:pPr indent="0" marL="0">
              <a:buNone/>
            </a:pPr>
            <a:r>
              <a:rPr lang="en-US" sz="1020" dirty="0">
                <a:solidFill>
                  <a:srgbClr val="20231E"/>
                </a:solidFill>
                <a:latin typeface="Arial" pitchFamily="34" charset="0"/>
                <a:ea typeface="Arial" pitchFamily="34" charset="-122"/>
                <a:cs typeface="Arial" pitchFamily="34" charset="-120"/>
              </a:rPr>
              <a:t>Surface actuelle : 19 ou 22 hectares selon les sources</a:t>
            </a:r>
            <a:endParaRPr lang="en-US" sz="1020" dirty="0"/>
          </a:p>
        </p:txBody>
      </p:sp>
      <p:sp>
        <p:nvSpPr>
          <p:cNvPr id="22" name="Text 20"/>
          <p:cNvSpPr/>
          <p:nvPr/>
        </p:nvSpPr>
        <p:spPr>
          <a:xfrm>
            <a:off x="6419088" y="3090672"/>
            <a:ext cx="347472" cy="201168"/>
          </a:xfrm>
          <a:prstGeom prst="rect">
            <a:avLst/>
          </a:prstGeom>
          <a:noFill/>
          <a:ln/>
        </p:spPr>
        <p:txBody>
          <a:bodyPr wrap="square" lIns="0" tIns="0" rIns="0" bIns="0" rtlCol="0" anchor="ctr"/>
          <a:lstStyle/>
          <a:p>
            <a:pPr algn="ctr" indent="0" marL="0">
              <a:buNone/>
            </a:pPr>
            <a:r>
              <a:rPr lang="en-US" sz="850" b="1" dirty="0">
                <a:solidFill>
                  <a:srgbClr val="2F7057"/>
                </a:solidFill>
                <a:latin typeface="Arial" pitchFamily="34" charset="0"/>
                <a:ea typeface="Arial" pitchFamily="34" charset="-122"/>
                <a:cs typeface="Arial" pitchFamily="34" charset="-120"/>
              </a:rPr>
              <a:t>02</a:t>
            </a:r>
            <a:endParaRPr lang="en-US" sz="850" dirty="0"/>
          </a:p>
        </p:txBody>
      </p:sp>
      <p:sp>
        <p:nvSpPr>
          <p:cNvPr id="23" name="Text 21"/>
          <p:cNvSpPr/>
          <p:nvPr/>
        </p:nvSpPr>
        <p:spPr>
          <a:xfrm>
            <a:off x="6894576" y="3072384"/>
            <a:ext cx="4041648" cy="283464"/>
          </a:xfrm>
          <a:prstGeom prst="rect">
            <a:avLst/>
          </a:prstGeom>
          <a:noFill/>
          <a:ln/>
        </p:spPr>
        <p:txBody>
          <a:bodyPr wrap="square" lIns="0" tIns="0" rIns="0" bIns="0" rtlCol="0" anchor="ctr"/>
          <a:lstStyle/>
          <a:p>
            <a:pPr indent="0" marL="0">
              <a:buNone/>
            </a:pPr>
            <a:r>
              <a:rPr lang="en-US" sz="1020" dirty="0">
                <a:solidFill>
                  <a:srgbClr val="20231E"/>
                </a:solidFill>
                <a:latin typeface="Arial" pitchFamily="34" charset="0"/>
                <a:ea typeface="Arial" pitchFamily="34" charset="-122"/>
                <a:cs typeface="Arial" pitchFamily="34" charset="-120"/>
              </a:rPr>
              <a:t>Gamme 2026 complète et millésimes disponibles</a:t>
            </a:r>
            <a:endParaRPr lang="en-US" sz="1020" dirty="0"/>
          </a:p>
        </p:txBody>
      </p:sp>
      <p:sp>
        <p:nvSpPr>
          <p:cNvPr id="24" name="Text 22"/>
          <p:cNvSpPr/>
          <p:nvPr/>
        </p:nvSpPr>
        <p:spPr>
          <a:xfrm>
            <a:off x="6419088" y="3575304"/>
            <a:ext cx="347472" cy="201168"/>
          </a:xfrm>
          <a:prstGeom prst="rect">
            <a:avLst/>
          </a:prstGeom>
          <a:noFill/>
          <a:ln/>
        </p:spPr>
        <p:txBody>
          <a:bodyPr wrap="square" lIns="0" tIns="0" rIns="0" bIns="0" rtlCol="0" anchor="ctr"/>
          <a:lstStyle/>
          <a:p>
            <a:pPr algn="ctr" indent="0" marL="0">
              <a:buNone/>
            </a:pPr>
            <a:r>
              <a:rPr lang="en-US" sz="850" b="1" dirty="0">
                <a:solidFill>
                  <a:srgbClr val="2F7057"/>
                </a:solidFill>
                <a:latin typeface="Arial" pitchFamily="34" charset="0"/>
                <a:ea typeface="Arial" pitchFamily="34" charset="-122"/>
                <a:cs typeface="Arial" pitchFamily="34" charset="-120"/>
              </a:rPr>
              <a:t>03</a:t>
            </a:r>
            <a:endParaRPr lang="en-US" sz="850" dirty="0"/>
          </a:p>
        </p:txBody>
      </p:sp>
      <p:sp>
        <p:nvSpPr>
          <p:cNvPr id="25" name="Text 23"/>
          <p:cNvSpPr/>
          <p:nvPr/>
        </p:nvSpPr>
        <p:spPr>
          <a:xfrm>
            <a:off x="6894576" y="3557016"/>
            <a:ext cx="4041648" cy="283464"/>
          </a:xfrm>
          <a:prstGeom prst="rect">
            <a:avLst/>
          </a:prstGeom>
          <a:noFill/>
          <a:ln/>
        </p:spPr>
        <p:txBody>
          <a:bodyPr wrap="square" lIns="0" tIns="0" rIns="0" bIns="0" rtlCol="0" anchor="ctr"/>
          <a:lstStyle/>
          <a:p>
            <a:pPr indent="0" marL="0">
              <a:buNone/>
            </a:pPr>
            <a:r>
              <a:rPr lang="en-US" sz="1020" dirty="0">
                <a:solidFill>
                  <a:srgbClr val="20231E"/>
                </a:solidFill>
                <a:latin typeface="Arial" pitchFamily="34" charset="0"/>
                <a:ea typeface="Arial" pitchFamily="34" charset="-122"/>
                <a:cs typeface="Arial" pitchFamily="34" charset="-120"/>
              </a:rPr>
              <a:t>Orthographe actuelle de Beauregard / Beauregards</a:t>
            </a:r>
            <a:endParaRPr lang="en-US" sz="1020" dirty="0"/>
          </a:p>
        </p:txBody>
      </p:sp>
      <p:sp>
        <p:nvSpPr>
          <p:cNvPr id="26" name="Text 24"/>
          <p:cNvSpPr/>
          <p:nvPr/>
        </p:nvSpPr>
        <p:spPr>
          <a:xfrm>
            <a:off x="6419088" y="4059936"/>
            <a:ext cx="347472" cy="201168"/>
          </a:xfrm>
          <a:prstGeom prst="rect">
            <a:avLst/>
          </a:prstGeom>
          <a:noFill/>
          <a:ln/>
        </p:spPr>
        <p:txBody>
          <a:bodyPr wrap="square" lIns="0" tIns="0" rIns="0" bIns="0" rtlCol="0" anchor="ctr"/>
          <a:lstStyle/>
          <a:p>
            <a:pPr algn="ctr" indent="0" marL="0">
              <a:buNone/>
            </a:pPr>
            <a:r>
              <a:rPr lang="en-US" sz="850" b="1" dirty="0">
                <a:solidFill>
                  <a:srgbClr val="2F7057"/>
                </a:solidFill>
                <a:latin typeface="Arial" pitchFamily="34" charset="0"/>
                <a:ea typeface="Arial" pitchFamily="34" charset="-122"/>
                <a:cs typeface="Arial" pitchFamily="34" charset="-120"/>
              </a:rPr>
              <a:t>04</a:t>
            </a:r>
            <a:endParaRPr lang="en-US" sz="850" dirty="0"/>
          </a:p>
        </p:txBody>
      </p:sp>
      <p:sp>
        <p:nvSpPr>
          <p:cNvPr id="27" name="Text 25"/>
          <p:cNvSpPr/>
          <p:nvPr/>
        </p:nvSpPr>
        <p:spPr>
          <a:xfrm>
            <a:off x="6894576" y="4041648"/>
            <a:ext cx="4041648" cy="283464"/>
          </a:xfrm>
          <a:prstGeom prst="rect">
            <a:avLst/>
          </a:prstGeom>
          <a:noFill/>
          <a:ln/>
        </p:spPr>
        <p:txBody>
          <a:bodyPr wrap="square" lIns="0" tIns="0" rIns="0" bIns="0" rtlCol="0" anchor="ctr"/>
          <a:lstStyle/>
          <a:p>
            <a:pPr indent="0" marL="0">
              <a:buNone/>
            </a:pPr>
            <a:r>
              <a:rPr lang="en-US" sz="1020" dirty="0">
                <a:solidFill>
                  <a:srgbClr val="20231E"/>
                </a:solidFill>
                <a:latin typeface="Arial" pitchFamily="34" charset="0"/>
                <a:ea typeface="Arial" pitchFamily="34" charset="-122"/>
                <a:cs typeface="Arial" pitchFamily="34" charset="-120"/>
              </a:rPr>
              <a:t>Fiche technique précise de l’Irancy</a:t>
            </a:r>
            <a:endParaRPr lang="en-US" sz="1020" dirty="0"/>
          </a:p>
        </p:txBody>
      </p:sp>
      <p:sp>
        <p:nvSpPr>
          <p:cNvPr id="28" name="Text 26"/>
          <p:cNvSpPr/>
          <p:nvPr/>
        </p:nvSpPr>
        <p:spPr>
          <a:xfrm>
            <a:off x="6419088" y="4544568"/>
            <a:ext cx="347472" cy="201168"/>
          </a:xfrm>
          <a:prstGeom prst="rect">
            <a:avLst/>
          </a:prstGeom>
          <a:noFill/>
          <a:ln/>
        </p:spPr>
        <p:txBody>
          <a:bodyPr wrap="square" lIns="0" tIns="0" rIns="0" bIns="0" rtlCol="0" anchor="ctr"/>
          <a:lstStyle/>
          <a:p>
            <a:pPr algn="ctr" indent="0" marL="0">
              <a:buNone/>
            </a:pPr>
            <a:r>
              <a:rPr lang="en-US" sz="850" b="1" dirty="0">
                <a:solidFill>
                  <a:srgbClr val="2F7057"/>
                </a:solidFill>
                <a:latin typeface="Arial" pitchFamily="34" charset="0"/>
                <a:ea typeface="Arial" pitchFamily="34" charset="-122"/>
                <a:cs typeface="Arial" pitchFamily="34" charset="-120"/>
              </a:rPr>
              <a:t>05</a:t>
            </a:r>
            <a:endParaRPr lang="en-US" sz="850" dirty="0"/>
          </a:p>
        </p:txBody>
      </p:sp>
      <p:sp>
        <p:nvSpPr>
          <p:cNvPr id="29" name="Text 27"/>
          <p:cNvSpPr/>
          <p:nvPr/>
        </p:nvSpPr>
        <p:spPr>
          <a:xfrm>
            <a:off x="6894576" y="4526280"/>
            <a:ext cx="4041648" cy="283464"/>
          </a:xfrm>
          <a:prstGeom prst="rect">
            <a:avLst/>
          </a:prstGeom>
          <a:noFill/>
          <a:ln/>
        </p:spPr>
        <p:txBody>
          <a:bodyPr wrap="square" lIns="0" tIns="0" rIns="0" bIns="0" rtlCol="0" anchor="ctr"/>
          <a:lstStyle/>
          <a:p>
            <a:pPr indent="0" marL="0">
              <a:buNone/>
            </a:pPr>
            <a:r>
              <a:rPr lang="en-US" sz="1020" dirty="0">
                <a:solidFill>
                  <a:srgbClr val="20231E"/>
                </a:solidFill>
                <a:latin typeface="Arial" pitchFamily="34" charset="0"/>
                <a:ea typeface="Arial" pitchFamily="34" charset="-122"/>
                <a:cs typeface="Arial" pitchFamily="34" charset="-120"/>
              </a:rPr>
              <a:t>Identité légale et droits sur les photographies</a:t>
            </a:r>
            <a:endParaRPr lang="en-US" sz="1020" dirty="0"/>
          </a:p>
        </p:txBody>
      </p:sp>
      <p:sp>
        <p:nvSpPr>
          <p:cNvPr id="30" name="Shape 28"/>
          <p:cNvSpPr/>
          <p:nvPr/>
        </p:nvSpPr>
        <p:spPr>
          <a:xfrm>
            <a:off x="658368" y="5733288"/>
            <a:ext cx="10881360" cy="493776"/>
          </a:xfrm>
          <a:prstGeom prst="rect">
            <a:avLst/>
          </a:prstGeom>
          <a:solidFill>
            <a:srgbClr val="2F7057"/>
          </a:solidFill>
          <a:ln w="12700">
            <a:solidFill>
              <a:srgbClr val="2F7057"/>
            </a:solidFill>
            <a:prstDash val="solid"/>
          </a:ln>
        </p:spPr>
      </p:sp>
      <p:sp>
        <p:nvSpPr>
          <p:cNvPr id="31" name="Text 29"/>
          <p:cNvSpPr/>
          <p:nvPr/>
        </p:nvSpPr>
        <p:spPr>
          <a:xfrm>
            <a:off x="932688" y="5861304"/>
            <a:ext cx="10287000" cy="219456"/>
          </a:xfrm>
          <a:prstGeom prst="rect">
            <a:avLst/>
          </a:prstGeom>
          <a:noFill/>
          <a:ln/>
        </p:spPr>
        <p:txBody>
          <a:bodyPr wrap="square" lIns="0" tIns="0" rIns="0" bIns="0" rtlCol="0" anchor="ctr"/>
          <a:lstStyle/>
          <a:p>
            <a:pPr algn="ctr" indent="0" marL="0">
              <a:buNone/>
            </a:pPr>
            <a:r>
              <a:rPr lang="en-US" sz="1020" b="1" dirty="0">
                <a:solidFill>
                  <a:srgbClr val="F7F4EC"/>
                </a:solidFill>
                <a:latin typeface="Arial" pitchFamily="34" charset="0"/>
                <a:ea typeface="Arial" pitchFamily="34" charset="-122"/>
                <a:cs typeface="Arial" pitchFamily="34" charset="-120"/>
              </a:rPr>
              <a:t>Une information contradictoire est retirée du site jusqu’à validation — jamais présentée comme certaine.</a:t>
            </a:r>
            <a:endParaRPr lang="en-US" sz="1020" dirty="0"/>
          </a:p>
        </p:txBody>
      </p:sp>
      <p:sp>
        <p:nvSpPr>
          <p:cNvPr id="32" name="Shape 30"/>
          <p:cNvSpPr/>
          <p:nvPr/>
        </p:nvSpPr>
        <p:spPr>
          <a:xfrm>
            <a:off x="658368" y="6528816"/>
            <a:ext cx="10863072" cy="0"/>
          </a:xfrm>
          <a:prstGeom prst="line">
            <a:avLst/>
          </a:prstGeom>
          <a:noFill/>
          <a:ln w="8890">
            <a:solidFill>
              <a:srgbClr val="CEC8BA"/>
            </a:solidFill>
            <a:prstDash val="solid"/>
          </a:ln>
        </p:spPr>
      </p:sp>
      <p:sp>
        <p:nvSpPr>
          <p:cNvPr id="33" name="Text 31"/>
          <p:cNvSpPr/>
          <p:nvPr/>
        </p:nvSpPr>
        <p:spPr>
          <a:xfrm>
            <a:off x="658368" y="6574536"/>
            <a:ext cx="9966960" cy="146304"/>
          </a:xfrm>
          <a:prstGeom prst="rect">
            <a:avLst/>
          </a:prstGeom>
          <a:noFill/>
          <a:ln/>
        </p:spPr>
        <p:txBody>
          <a:bodyPr wrap="square" lIns="0" tIns="0" rIns="0" bIns="0" rtlCol="0" anchor="t"/>
          <a:lstStyle/>
          <a:p>
            <a:pPr indent="0" marL="0">
              <a:buNone/>
            </a:pPr>
            <a:endParaRPr lang="en-US" sz="640" dirty="0"/>
          </a:p>
        </p:txBody>
      </p:sp>
      <p:sp>
        <p:nvSpPr>
          <p:cNvPr id="34" name="Text 32"/>
          <p:cNvSpPr/>
          <p:nvPr/>
        </p:nvSpPr>
        <p:spPr>
          <a:xfrm>
            <a:off x="11045952" y="6556248"/>
            <a:ext cx="475488" cy="164592"/>
          </a:xfrm>
          <a:prstGeom prst="rect">
            <a:avLst/>
          </a:prstGeom>
          <a:noFill/>
          <a:ln/>
        </p:spPr>
        <p:txBody>
          <a:bodyPr wrap="square" lIns="0" tIns="0" rIns="0" bIns="0" rtlCol="0" anchor="ctr"/>
          <a:lstStyle/>
          <a:p>
            <a:pPr algn="r" indent="0" marL="0">
              <a:buNone/>
            </a:pPr>
            <a:r>
              <a:rPr lang="en-US" sz="750" b="1" dirty="0">
                <a:solidFill>
                  <a:srgbClr val="2F7057"/>
                </a:solidFill>
                <a:latin typeface="Arial" pitchFamily="34" charset="0"/>
                <a:ea typeface="Arial" pitchFamily="34" charset="-122"/>
                <a:cs typeface="Arial" pitchFamily="34" charset="-120"/>
              </a:rPr>
              <a:t>05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EFE6"/>
        </a:solidFill>
      </p:bgPr>
    </p:bg>
    <p:spTree>
      <p:nvGrpSpPr>
        <p:cNvPr id="1" name=""/>
        <p:cNvGrpSpPr/>
        <p:nvPr/>
      </p:nvGrpSpPr>
      <p:grpSpPr>
        <a:xfrm>
          <a:off x="0" y="0"/>
          <a:ext cx="0" cy="0"/>
          <a:chOff x="0" y="0"/>
          <a:chExt cx="0" cy="0"/>
        </a:xfrm>
      </p:grpSpPr>
      <p:sp>
        <p:nvSpPr>
          <p:cNvPr id="2" name="Shape 0"/>
          <p:cNvSpPr/>
          <p:nvPr/>
        </p:nvSpPr>
        <p:spPr>
          <a:xfrm>
            <a:off x="658368" y="516636"/>
            <a:ext cx="256032" cy="0"/>
          </a:xfrm>
          <a:prstGeom prst="line">
            <a:avLst/>
          </a:prstGeom>
          <a:noFill/>
          <a:ln w="16510">
            <a:solidFill>
              <a:srgbClr val="2F7057"/>
            </a:solidFill>
            <a:prstDash val="solid"/>
          </a:ln>
        </p:spPr>
      </p:sp>
      <p:sp>
        <p:nvSpPr>
          <p:cNvPr id="3" name="Text 1"/>
          <p:cNvSpPr/>
          <p:nvPr/>
        </p:nvSpPr>
        <p:spPr>
          <a:xfrm>
            <a:off x="1042416" y="420624"/>
            <a:ext cx="4297680" cy="219456"/>
          </a:xfrm>
          <a:prstGeom prst="rect">
            <a:avLst/>
          </a:prstGeom>
          <a:noFill/>
          <a:ln/>
        </p:spPr>
        <p:txBody>
          <a:bodyPr wrap="square" lIns="0" tIns="0" rIns="0" bIns="0" rtlCol="0" anchor="ctr"/>
          <a:lstStyle/>
          <a:p>
            <a:pPr indent="0" marL="0">
              <a:buNone/>
            </a:pPr>
            <a:r>
              <a:rPr lang="en-US" sz="850" b="1" spc="180" kern="0" dirty="0">
                <a:solidFill>
                  <a:srgbClr val="2F7057"/>
                </a:solidFill>
                <a:latin typeface="Arial" pitchFamily="34" charset="0"/>
                <a:ea typeface="Arial" pitchFamily="34" charset="-122"/>
                <a:cs typeface="Arial" pitchFamily="34" charset="-120"/>
              </a:rPr>
              <a:t>DOMAINE CHRISTOPHE PATRICE</a:t>
            </a:r>
            <a:endParaRPr lang="en-US" sz="850" dirty="0"/>
          </a:p>
        </p:txBody>
      </p:sp>
      <p:sp>
        <p:nvSpPr>
          <p:cNvPr id="4" name="Text 2"/>
          <p:cNvSpPr/>
          <p:nvPr/>
        </p:nvSpPr>
        <p:spPr>
          <a:xfrm>
            <a:off x="658368" y="786384"/>
            <a:ext cx="10881360" cy="566928"/>
          </a:xfrm>
          <a:prstGeom prst="rect">
            <a:avLst/>
          </a:prstGeom>
          <a:noFill/>
          <a:ln/>
        </p:spPr>
        <p:txBody>
          <a:bodyPr wrap="square" lIns="0" tIns="0" rIns="0" bIns="0" rtlCol="0" anchor="t"/>
          <a:lstStyle/>
          <a:p>
            <a:pPr indent="0" marL="0">
              <a:buNone/>
            </a:pPr>
            <a:r>
              <a:rPr lang="en-US" sz="2600" b="1" dirty="0">
                <a:solidFill>
                  <a:srgbClr val="20231E"/>
                </a:solidFill>
                <a:latin typeface="Georgia" pitchFamily="34" charset="0"/>
                <a:ea typeface="Georgia" pitchFamily="34" charset="-122"/>
                <a:cs typeface="Georgia" pitchFamily="34" charset="-120"/>
              </a:rPr>
              <a:t>Une collaboration simple, pensée comme un échange.</a:t>
            </a:r>
            <a:endParaRPr lang="en-US" sz="2600" dirty="0"/>
          </a:p>
        </p:txBody>
      </p:sp>
      <p:sp>
        <p:nvSpPr>
          <p:cNvPr id="5" name="Text 3"/>
          <p:cNvSpPr/>
          <p:nvPr/>
        </p:nvSpPr>
        <p:spPr>
          <a:xfrm>
            <a:off x="658368" y="1389888"/>
            <a:ext cx="10424160" cy="347472"/>
          </a:xfrm>
          <a:prstGeom prst="rect">
            <a:avLst/>
          </a:prstGeom>
          <a:noFill/>
          <a:ln/>
        </p:spPr>
        <p:txBody>
          <a:bodyPr wrap="square" lIns="0" tIns="0" rIns="0" bIns="0" rtlCol="0" anchor="t"/>
          <a:lstStyle/>
          <a:p>
            <a:pPr indent="0" marL="0">
              <a:buNone/>
            </a:pPr>
            <a:r>
              <a:rPr lang="en-US" sz="1150" dirty="0">
                <a:solidFill>
                  <a:srgbClr val="5A5E55"/>
                </a:solidFill>
                <a:latin typeface="Arial" pitchFamily="34" charset="0"/>
                <a:ea typeface="Arial" pitchFamily="34" charset="-122"/>
                <a:cs typeface="Arial" pitchFamily="34" charset="-120"/>
              </a:rPr>
              <a:t>Une proposition passion, sensiblement inférieure à la valeur habituelle d’un projet de ce niveau.</a:t>
            </a:r>
            <a:endParaRPr lang="en-US" sz="1150" dirty="0"/>
          </a:p>
        </p:txBody>
      </p:sp>
      <p:sp>
        <p:nvSpPr>
          <p:cNvPr id="6" name="Shape 4"/>
          <p:cNvSpPr/>
          <p:nvPr/>
        </p:nvSpPr>
        <p:spPr>
          <a:xfrm>
            <a:off x="658368" y="1874520"/>
            <a:ext cx="4983480" cy="3639312"/>
          </a:xfrm>
          <a:prstGeom prst="roundRect">
            <a:avLst>
              <a:gd name="adj" fmla="val 1256"/>
            </a:avLst>
          </a:prstGeom>
          <a:solidFill>
            <a:srgbClr val="FAF8F2"/>
          </a:solidFill>
          <a:ln w="10160">
            <a:solidFill>
              <a:srgbClr val="CEC8BA"/>
            </a:solidFill>
            <a:prstDash val="solid"/>
          </a:ln>
        </p:spPr>
      </p:sp>
      <p:sp>
        <p:nvSpPr>
          <p:cNvPr id="7" name="Text 5"/>
          <p:cNvSpPr/>
          <p:nvPr/>
        </p:nvSpPr>
        <p:spPr>
          <a:xfrm>
            <a:off x="960120" y="2212848"/>
            <a:ext cx="2286000" cy="201168"/>
          </a:xfrm>
          <a:prstGeom prst="rect">
            <a:avLst/>
          </a:prstGeom>
          <a:noFill/>
          <a:ln/>
        </p:spPr>
        <p:txBody>
          <a:bodyPr wrap="square" lIns="0" tIns="0" rIns="0" bIns="0" rtlCol="0" anchor="ctr"/>
          <a:lstStyle/>
          <a:p>
            <a:pPr indent="0" marL="0">
              <a:buNone/>
            </a:pPr>
            <a:r>
              <a:rPr lang="en-US" sz="850" b="1" spc="130" kern="0" dirty="0">
                <a:solidFill>
                  <a:srgbClr val="5A5E55"/>
                </a:solidFill>
                <a:latin typeface="Arial" pitchFamily="34" charset="0"/>
                <a:ea typeface="Arial" pitchFamily="34" charset="-122"/>
                <a:cs typeface="Arial" pitchFamily="34" charset="-120"/>
              </a:rPr>
              <a:t>VALEUR DE RÉFÉRENCE</a:t>
            </a:r>
            <a:endParaRPr lang="en-US" sz="850" dirty="0"/>
          </a:p>
        </p:txBody>
      </p:sp>
      <p:sp>
        <p:nvSpPr>
          <p:cNvPr id="8" name="Text 6"/>
          <p:cNvSpPr/>
          <p:nvPr/>
        </p:nvSpPr>
        <p:spPr>
          <a:xfrm>
            <a:off x="932688" y="2606040"/>
            <a:ext cx="4023360" cy="658368"/>
          </a:xfrm>
          <a:prstGeom prst="rect">
            <a:avLst/>
          </a:prstGeom>
          <a:noFill/>
          <a:ln/>
        </p:spPr>
        <p:txBody>
          <a:bodyPr wrap="square" lIns="0" tIns="0" rIns="0" bIns="0" rtlCol="0" anchor="ctr"/>
          <a:lstStyle/>
          <a:p>
            <a:pPr indent="0" marL="0">
              <a:buNone/>
            </a:pPr>
            <a:r>
              <a:rPr lang="en-US" sz="3100" b="1" dirty="0">
                <a:solidFill>
                  <a:srgbClr val="20231E"/>
                </a:solidFill>
                <a:latin typeface="Georgia" pitchFamily="34" charset="0"/>
                <a:ea typeface="Georgia" pitchFamily="34" charset="-122"/>
                <a:cs typeface="Georgia" pitchFamily="34" charset="-120"/>
              </a:rPr>
              <a:t>4 200 € HT</a:t>
            </a:r>
            <a:endParaRPr lang="en-US" sz="3100" dirty="0"/>
          </a:p>
        </p:txBody>
      </p:sp>
      <p:sp>
        <p:nvSpPr>
          <p:cNvPr id="9" name="Text 7"/>
          <p:cNvSpPr/>
          <p:nvPr/>
        </p:nvSpPr>
        <p:spPr>
          <a:xfrm>
            <a:off x="960120" y="3410712"/>
            <a:ext cx="3794760" cy="612648"/>
          </a:xfrm>
          <a:prstGeom prst="rect">
            <a:avLst/>
          </a:prstGeom>
          <a:noFill/>
          <a:ln/>
        </p:spPr>
        <p:txBody>
          <a:bodyPr wrap="square" lIns="0" tIns="0" rIns="0" bIns="0" rtlCol="0" anchor="t"/>
          <a:lstStyle/>
          <a:p>
            <a:pPr indent="0" marL="0">
              <a:buNone/>
            </a:pPr>
            <a:r>
              <a:rPr lang="en-US" sz="1100" dirty="0">
                <a:solidFill>
                  <a:srgbClr val="5A5E55"/>
                </a:solidFill>
                <a:latin typeface="Arial" pitchFamily="34" charset="0"/>
                <a:ea typeface="Arial" pitchFamily="34" charset="-122"/>
                <a:cs typeface="Arial" pitchFamily="34" charset="-120"/>
              </a:rPr>
              <a:t>Conception, développement, contenus,</a:t>
            </a:r>
            <a:endParaRPr lang="en-US" sz="1100" dirty="0"/>
          </a:p>
          <a:p>
            <a:pPr indent="0" marL="0">
              <a:buNone/>
            </a:pPr>
            <a:r>
              <a:rPr lang="en-US" sz="1100" dirty="0">
                <a:solidFill>
                  <a:srgbClr val="5A5E55"/>
                </a:solidFill>
                <a:latin typeface="Arial" pitchFamily="34" charset="0"/>
                <a:ea typeface="Arial" pitchFamily="34" charset="-122"/>
                <a:cs typeface="Arial" pitchFamily="34" charset="-120"/>
              </a:rPr>
              <a:t>version anglaise, tests et mise en ligne.</a:t>
            </a:r>
            <a:endParaRPr lang="en-US" sz="1100" dirty="0"/>
          </a:p>
        </p:txBody>
      </p:sp>
      <p:sp>
        <p:nvSpPr>
          <p:cNvPr id="10" name="Text 8"/>
          <p:cNvSpPr/>
          <p:nvPr/>
        </p:nvSpPr>
        <p:spPr>
          <a:xfrm>
            <a:off x="960120" y="4462272"/>
            <a:ext cx="3703320" cy="530352"/>
          </a:xfrm>
          <a:prstGeom prst="rect">
            <a:avLst/>
          </a:prstGeom>
          <a:noFill/>
          <a:ln/>
        </p:spPr>
        <p:txBody>
          <a:bodyPr wrap="square" lIns="0" tIns="0" rIns="0" bIns="0" rtlCol="0" anchor="t"/>
          <a:lstStyle/>
          <a:p>
            <a:pPr indent="0" marL="0">
              <a:buNone/>
            </a:pPr>
            <a:r>
              <a:rPr lang="en-US" sz="880" dirty="0">
                <a:solidFill>
                  <a:srgbClr val="2F7057"/>
                </a:solidFill>
                <a:latin typeface="Arial" pitchFamily="34" charset="0"/>
                <a:ea typeface="Arial" pitchFamily="34" charset="-122"/>
                <a:cs typeface="Arial" pitchFamily="34" charset="-120"/>
              </a:rPr>
              <a:t>Repère marché : site vitrine sur mesure</a:t>
            </a:r>
            <a:endParaRPr lang="en-US" sz="880" dirty="0"/>
          </a:p>
          <a:p>
            <a:pPr indent="0" marL="0">
              <a:buNone/>
            </a:pPr>
            <a:r>
              <a:rPr lang="en-US" sz="880" dirty="0">
                <a:solidFill>
                  <a:srgbClr val="2F7057"/>
                </a:solidFill>
                <a:latin typeface="Arial" pitchFamily="34" charset="0"/>
                <a:ea typeface="Arial" pitchFamily="34" charset="-122"/>
                <a:cs typeface="Arial" pitchFamily="34" charset="-120"/>
              </a:rPr>
              <a:t>freelance en France, environ 3 000 à 5 000 € HT.</a:t>
            </a:r>
            <a:endParaRPr lang="en-US" sz="880" dirty="0"/>
          </a:p>
        </p:txBody>
      </p:sp>
      <p:sp>
        <p:nvSpPr>
          <p:cNvPr id="11" name="Text 9"/>
          <p:cNvSpPr/>
          <p:nvPr/>
        </p:nvSpPr>
        <p:spPr>
          <a:xfrm>
            <a:off x="5696712" y="3328416"/>
            <a:ext cx="548640" cy="548640"/>
          </a:xfrm>
          <a:prstGeom prst="rect">
            <a:avLst/>
          </a:prstGeom>
          <a:noFill/>
          <a:ln/>
        </p:spPr>
        <p:txBody>
          <a:bodyPr wrap="square" lIns="0" tIns="0" rIns="0" bIns="0" rtlCol="0" anchor="ctr"/>
          <a:lstStyle/>
          <a:p>
            <a:pPr algn="ctr" indent="0" marL="0">
              <a:buNone/>
            </a:pPr>
            <a:r>
              <a:rPr lang="en-US" sz="2400" b="1" dirty="0">
                <a:solidFill>
                  <a:srgbClr val="2F7057"/>
                </a:solidFill>
                <a:latin typeface="Arial" pitchFamily="34" charset="0"/>
                <a:ea typeface="Arial" pitchFamily="34" charset="-122"/>
                <a:cs typeface="Arial" pitchFamily="34" charset="-120"/>
              </a:rPr>
              <a:t>→</a:t>
            </a:r>
            <a:endParaRPr lang="en-US" sz="2400" dirty="0"/>
          </a:p>
        </p:txBody>
      </p:sp>
      <p:sp>
        <p:nvSpPr>
          <p:cNvPr id="12" name="Shape 10"/>
          <p:cNvSpPr/>
          <p:nvPr/>
        </p:nvSpPr>
        <p:spPr>
          <a:xfrm>
            <a:off x="6345936" y="1874520"/>
            <a:ext cx="5193792" cy="3639312"/>
          </a:xfrm>
          <a:prstGeom prst="roundRect">
            <a:avLst>
              <a:gd name="adj" fmla="val 1256"/>
            </a:avLst>
          </a:prstGeom>
          <a:solidFill>
            <a:srgbClr val="171A15"/>
          </a:solidFill>
          <a:ln w="15240">
            <a:solidFill>
              <a:srgbClr val="2F7057"/>
            </a:solidFill>
            <a:prstDash val="solid"/>
          </a:ln>
        </p:spPr>
      </p:sp>
      <p:pic>
        <p:nvPicPr>
          <p:cNvPr id="13" name="Image 0" descr="Bouteilles du Domaine Christophe Patrice">    </p:cNvPr>
          <p:cNvPicPr>
            <a:picLocks noChangeAspect="1"/>
          </p:cNvPicPr>
          <p:nvPr/>
        </p:nvPicPr>
        <p:blipFill>
          <a:blip r:embed="rId1">
            <a:alphaModFix amt="52000"/>
          </a:blip>
          <a:srcRect l="0" r="0" t="0" b="0"/>
          <a:stretch/>
        </p:blipFill>
        <p:spPr>
          <a:xfrm>
            <a:off x="6345936" y="1874520"/>
            <a:ext cx="5193792" cy="3639312"/>
          </a:xfrm>
          <a:prstGeom prst="rect">
            <a:avLst/>
          </a:prstGeom>
        </p:spPr>
      </p:pic>
      <p:sp>
        <p:nvSpPr>
          <p:cNvPr id="14" name="Shape 11"/>
          <p:cNvSpPr/>
          <p:nvPr/>
        </p:nvSpPr>
        <p:spPr>
          <a:xfrm>
            <a:off x="6345936" y="1874520"/>
            <a:ext cx="5193792" cy="3639312"/>
          </a:xfrm>
          <a:prstGeom prst="rect">
            <a:avLst/>
          </a:prstGeom>
          <a:solidFill>
            <a:srgbClr val="171A15">
              <a:alpha val="74000"/>
            </a:srgbClr>
          </a:solidFill>
          <a:ln w="12700">
            <a:solidFill>
              <a:srgbClr val="171A15">
                <a:alpha val="0"/>
              </a:srgbClr>
            </a:solidFill>
            <a:prstDash val="solid"/>
          </a:ln>
        </p:spPr>
      </p:sp>
      <p:sp>
        <p:nvSpPr>
          <p:cNvPr id="15" name="Text 12"/>
          <p:cNvSpPr/>
          <p:nvPr/>
        </p:nvSpPr>
        <p:spPr>
          <a:xfrm>
            <a:off x="6665976" y="2212848"/>
            <a:ext cx="2560320" cy="201168"/>
          </a:xfrm>
          <a:prstGeom prst="rect">
            <a:avLst/>
          </a:prstGeom>
          <a:noFill/>
          <a:ln/>
        </p:spPr>
        <p:txBody>
          <a:bodyPr wrap="square" lIns="0" tIns="0" rIns="0" bIns="0" rtlCol="0" anchor="ctr"/>
          <a:lstStyle/>
          <a:p>
            <a:pPr indent="0" marL="0">
              <a:buNone/>
            </a:pPr>
            <a:r>
              <a:rPr lang="en-US" sz="850" b="1" spc="130" kern="0" dirty="0">
                <a:solidFill>
                  <a:srgbClr val="58A07D"/>
                </a:solidFill>
                <a:latin typeface="Arial" pitchFamily="34" charset="0"/>
                <a:ea typeface="Arial" pitchFamily="34" charset="-122"/>
                <a:cs typeface="Arial" pitchFamily="34" charset="-120"/>
              </a:rPr>
              <a:t>PROPOSITION PASSION</a:t>
            </a:r>
            <a:endParaRPr lang="en-US" sz="850" dirty="0"/>
          </a:p>
        </p:txBody>
      </p:sp>
      <p:sp>
        <p:nvSpPr>
          <p:cNvPr id="16" name="Text 13"/>
          <p:cNvSpPr/>
          <p:nvPr/>
        </p:nvSpPr>
        <p:spPr>
          <a:xfrm>
            <a:off x="6656832" y="2596896"/>
            <a:ext cx="4297680" cy="658368"/>
          </a:xfrm>
          <a:prstGeom prst="rect">
            <a:avLst/>
          </a:prstGeom>
          <a:noFill/>
          <a:ln/>
        </p:spPr>
        <p:txBody>
          <a:bodyPr wrap="square" lIns="0" tIns="0" rIns="0" bIns="0" rtlCol="0" anchor="ctr"/>
          <a:lstStyle/>
          <a:p>
            <a:pPr indent="0" marL="0">
              <a:buNone/>
            </a:pPr>
            <a:r>
              <a:rPr lang="en-US" sz="3100" b="1" dirty="0">
                <a:solidFill>
                  <a:srgbClr val="F7F4EC"/>
                </a:solidFill>
                <a:latin typeface="Georgia" pitchFamily="34" charset="0"/>
                <a:ea typeface="Georgia" pitchFamily="34" charset="-122"/>
                <a:cs typeface="Georgia" pitchFamily="34" charset="-120"/>
              </a:rPr>
              <a:t>60 bouteilles</a:t>
            </a:r>
            <a:endParaRPr lang="en-US" sz="3100" dirty="0"/>
          </a:p>
        </p:txBody>
      </p:sp>
      <p:sp>
        <p:nvSpPr>
          <p:cNvPr id="17" name="Text 14"/>
          <p:cNvSpPr/>
          <p:nvPr/>
        </p:nvSpPr>
        <p:spPr>
          <a:xfrm>
            <a:off x="6675120" y="3310128"/>
            <a:ext cx="4023360" cy="274320"/>
          </a:xfrm>
          <a:prstGeom prst="rect">
            <a:avLst/>
          </a:prstGeom>
          <a:noFill/>
          <a:ln/>
        </p:spPr>
        <p:txBody>
          <a:bodyPr wrap="square" lIns="0" tIns="0" rIns="0" bIns="0" rtlCol="0" anchor="ctr"/>
          <a:lstStyle/>
          <a:p>
            <a:pPr indent="0" marL="0">
              <a:buNone/>
            </a:pPr>
            <a:r>
              <a:rPr lang="en-US" sz="1200" dirty="0">
                <a:solidFill>
                  <a:srgbClr val="F7F4EC"/>
                </a:solidFill>
                <a:latin typeface="Arial" pitchFamily="34" charset="0"/>
                <a:ea typeface="Arial" pitchFamily="34" charset="-122"/>
                <a:cs typeface="Arial" pitchFamily="34" charset="-120"/>
              </a:rPr>
              <a:t>panachées sur la gamme disponible</a:t>
            </a:r>
            <a:endParaRPr lang="en-US" sz="1200" dirty="0"/>
          </a:p>
        </p:txBody>
      </p:sp>
      <p:sp>
        <p:nvSpPr>
          <p:cNvPr id="18" name="Text 15"/>
          <p:cNvSpPr/>
          <p:nvPr/>
        </p:nvSpPr>
        <p:spPr>
          <a:xfrm>
            <a:off x="6675120" y="4059936"/>
            <a:ext cx="4224528" cy="658368"/>
          </a:xfrm>
          <a:prstGeom prst="rect">
            <a:avLst/>
          </a:prstGeom>
          <a:noFill/>
          <a:ln/>
        </p:spPr>
        <p:txBody>
          <a:bodyPr wrap="square" lIns="0" tIns="0" rIns="0" bIns="0" rtlCol="0" anchor="t"/>
          <a:lstStyle/>
          <a:p>
            <a:pPr indent="0" marL="0">
              <a:buNone/>
            </a:pPr>
            <a:r>
              <a:rPr lang="en-US" sz="1020" dirty="0">
                <a:solidFill>
                  <a:srgbClr val="B8B3A6"/>
                </a:solidFill>
                <a:latin typeface="Arial" pitchFamily="34" charset="0"/>
                <a:ea typeface="Arial" pitchFamily="34" charset="-122"/>
                <a:cs typeface="Arial" pitchFamily="34" charset="-120"/>
              </a:rPr>
              <a:t>Finalisation · mise en ligne · 2 séries de corrections</a:t>
            </a:r>
            <a:endParaRPr lang="en-US" sz="1020" dirty="0"/>
          </a:p>
          <a:p>
            <a:pPr indent="0" marL="0">
              <a:buNone/>
            </a:pPr>
            <a:r>
              <a:rPr lang="en-US" sz="1020" dirty="0">
                <a:solidFill>
                  <a:srgbClr val="B8B3A6"/>
                </a:solidFill>
                <a:latin typeface="Arial" pitchFamily="34" charset="0"/>
                <a:ea typeface="Arial" pitchFamily="34" charset="-122"/>
                <a:cs typeface="Arial" pitchFamily="34" charset="-120"/>
              </a:rPr>
              <a:t>30 jours de garantie corrective</a:t>
            </a:r>
            <a:endParaRPr lang="en-US" sz="1020" dirty="0"/>
          </a:p>
        </p:txBody>
      </p:sp>
      <p:sp>
        <p:nvSpPr>
          <p:cNvPr id="19" name="Shape 16"/>
          <p:cNvSpPr/>
          <p:nvPr/>
        </p:nvSpPr>
        <p:spPr>
          <a:xfrm>
            <a:off x="658368" y="5760720"/>
            <a:ext cx="10881360" cy="457200"/>
          </a:xfrm>
          <a:prstGeom prst="rect">
            <a:avLst/>
          </a:prstGeom>
          <a:solidFill>
            <a:srgbClr val="E7E2D6"/>
          </a:solidFill>
          <a:ln w="8890">
            <a:solidFill>
              <a:srgbClr val="CEC8BA"/>
            </a:solidFill>
            <a:prstDash val="solid"/>
          </a:ln>
        </p:spPr>
      </p:sp>
      <p:sp>
        <p:nvSpPr>
          <p:cNvPr id="20" name="Text 17"/>
          <p:cNvSpPr/>
          <p:nvPr/>
        </p:nvSpPr>
        <p:spPr>
          <a:xfrm>
            <a:off x="914400" y="5879592"/>
            <a:ext cx="10351008" cy="201168"/>
          </a:xfrm>
          <a:prstGeom prst="rect">
            <a:avLst/>
          </a:prstGeom>
          <a:noFill/>
          <a:ln/>
        </p:spPr>
        <p:txBody>
          <a:bodyPr wrap="square" lIns="0" tIns="0" rIns="0" bIns="0" rtlCol="0" anchor="ctr"/>
          <a:lstStyle/>
          <a:p>
            <a:pPr algn="ctr" indent="0" marL="0">
              <a:buNone/>
            </a:pPr>
            <a:r>
              <a:rPr lang="en-US" sz="880" dirty="0">
                <a:solidFill>
                  <a:srgbClr val="5A5E55"/>
                </a:solidFill>
                <a:latin typeface="Arial" pitchFamily="34" charset="0"/>
                <a:ea typeface="Arial" pitchFamily="34" charset="-122"/>
                <a:cs typeface="Arial" pitchFamily="34" charset="-120"/>
              </a:rPr>
              <a:t>Domaine et hébergement réglés directement par le domaine · Échange valorisé en euros et formalisé proprement.</a:t>
            </a:r>
            <a:endParaRPr lang="en-US" sz="880" dirty="0"/>
          </a:p>
        </p:txBody>
      </p:sp>
      <p:sp>
        <p:nvSpPr>
          <p:cNvPr id="21" name="Shape 18"/>
          <p:cNvSpPr/>
          <p:nvPr/>
        </p:nvSpPr>
        <p:spPr>
          <a:xfrm>
            <a:off x="658368" y="6528816"/>
            <a:ext cx="10863072" cy="0"/>
          </a:xfrm>
          <a:prstGeom prst="line">
            <a:avLst/>
          </a:prstGeom>
          <a:noFill/>
          <a:ln w="8890">
            <a:solidFill>
              <a:srgbClr val="CEC8BA"/>
            </a:solidFill>
            <a:prstDash val="solid"/>
          </a:ln>
        </p:spPr>
      </p:sp>
      <p:sp>
        <p:nvSpPr>
          <p:cNvPr id="22" name="Text 19"/>
          <p:cNvSpPr/>
          <p:nvPr/>
        </p:nvSpPr>
        <p:spPr>
          <a:xfrm>
            <a:off x="658368" y="6574536"/>
            <a:ext cx="9966960" cy="146304"/>
          </a:xfrm>
          <a:prstGeom prst="rect">
            <a:avLst/>
          </a:prstGeom>
          <a:noFill/>
          <a:ln/>
        </p:spPr>
        <p:txBody>
          <a:bodyPr wrap="square" lIns="0" tIns="0" rIns="0" bIns="0" rtlCol="0" anchor="t"/>
          <a:lstStyle/>
          <a:p>
            <a:pPr indent="0" marL="0">
              <a:buNone/>
            </a:pPr>
            <a:r>
              <a:rPr lang="en-US" sz="640" dirty="0">
                <a:solidFill>
                  <a:srgbClr val="5A5E55"/>
                </a:solidFill>
                <a:latin typeface="Arial" pitchFamily="34" charset="0"/>
                <a:ea typeface="Arial" pitchFamily="34" charset="-122"/>
                <a:cs typeface="Arial" pitchFamily="34" charset="-120"/>
              </a:rPr>
              <a:t>Repère tarifaire : Baromètre Malt 2026, développeurs front-end ; estimation de périmètre du projet.</a:t>
            </a:r>
            <a:endParaRPr lang="en-US" sz="640" dirty="0"/>
          </a:p>
        </p:txBody>
      </p:sp>
      <p:sp>
        <p:nvSpPr>
          <p:cNvPr id="23" name="Text 20"/>
          <p:cNvSpPr/>
          <p:nvPr/>
        </p:nvSpPr>
        <p:spPr>
          <a:xfrm>
            <a:off x="11045952" y="6556248"/>
            <a:ext cx="475488" cy="164592"/>
          </a:xfrm>
          <a:prstGeom prst="rect">
            <a:avLst/>
          </a:prstGeom>
          <a:noFill/>
          <a:ln/>
        </p:spPr>
        <p:txBody>
          <a:bodyPr wrap="square" lIns="0" tIns="0" rIns="0" bIns="0" rtlCol="0" anchor="ctr"/>
          <a:lstStyle/>
          <a:p>
            <a:pPr algn="r" indent="0" marL="0">
              <a:buNone/>
            </a:pPr>
            <a:r>
              <a:rPr lang="en-US" sz="750" b="1" dirty="0">
                <a:solidFill>
                  <a:srgbClr val="2F7057"/>
                </a:solidFill>
                <a:latin typeface="Arial" pitchFamily="34" charset="0"/>
                <a:ea typeface="Arial" pitchFamily="34" charset="-122"/>
                <a:cs typeface="Arial" pitchFamily="34" charset="-120"/>
              </a:rPr>
              <a:t>06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71A15"/>
        </a:solidFill>
      </p:bgPr>
    </p:bg>
    <p:spTree>
      <p:nvGrpSpPr>
        <p:cNvPr id="1" name=""/>
        <p:cNvGrpSpPr/>
        <p:nvPr/>
      </p:nvGrpSpPr>
      <p:grpSpPr>
        <a:xfrm>
          <a:off x="0" y="0"/>
          <a:ext cx="0" cy="0"/>
          <a:chOff x="0" y="0"/>
          <a:chExt cx="0" cy="0"/>
        </a:xfrm>
      </p:grpSpPr>
      <p:pic>
        <p:nvPicPr>
          <p:cNvPr id="2" name="Image 0" descr="Nouvelle page d'accueil du Domaine Christophe Patrice">    </p:cNvPr>
          <p:cNvPicPr>
            <a:picLocks noChangeAspect="1"/>
          </p:cNvPicPr>
          <p:nvPr/>
        </p:nvPicPr>
        <p:blipFill>
          <a:blip r:embed="rId1">
            <a:alphaModFix amt="28000"/>
          </a:blip>
          <a:srcRect l="0" r="0" t="0" b="0"/>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171A15">
              <a:alpha val="93000"/>
            </a:srgbClr>
          </a:solidFill>
          <a:ln w="12700">
            <a:solidFill>
              <a:srgbClr val="171A15">
                <a:alpha val="0"/>
              </a:srgbClr>
            </a:solidFill>
            <a:prstDash val="solid"/>
          </a:ln>
        </p:spPr>
      </p:sp>
      <p:sp>
        <p:nvSpPr>
          <p:cNvPr id="4" name="Shape 1"/>
          <p:cNvSpPr/>
          <p:nvPr/>
        </p:nvSpPr>
        <p:spPr>
          <a:xfrm>
            <a:off x="658368" y="516636"/>
            <a:ext cx="256032" cy="0"/>
          </a:xfrm>
          <a:prstGeom prst="line">
            <a:avLst/>
          </a:prstGeom>
          <a:noFill/>
          <a:ln w="16510">
            <a:solidFill>
              <a:srgbClr val="58A07D"/>
            </a:solidFill>
            <a:prstDash val="solid"/>
          </a:ln>
        </p:spPr>
      </p:sp>
      <p:sp>
        <p:nvSpPr>
          <p:cNvPr id="5" name="Text 2"/>
          <p:cNvSpPr/>
          <p:nvPr/>
        </p:nvSpPr>
        <p:spPr>
          <a:xfrm>
            <a:off x="1042416" y="420624"/>
            <a:ext cx="4297680" cy="219456"/>
          </a:xfrm>
          <a:prstGeom prst="rect">
            <a:avLst/>
          </a:prstGeom>
          <a:noFill/>
          <a:ln/>
        </p:spPr>
        <p:txBody>
          <a:bodyPr wrap="square" lIns="0" tIns="0" rIns="0" bIns="0" rtlCol="0" anchor="ctr"/>
          <a:lstStyle/>
          <a:p>
            <a:pPr indent="0" marL="0">
              <a:buNone/>
            </a:pPr>
            <a:r>
              <a:rPr lang="en-US" sz="850" b="1" spc="180" kern="0" dirty="0">
                <a:solidFill>
                  <a:srgbClr val="58A07D"/>
                </a:solidFill>
                <a:latin typeface="Arial" pitchFamily="34" charset="0"/>
                <a:ea typeface="Arial" pitchFamily="34" charset="-122"/>
                <a:cs typeface="Arial" pitchFamily="34" charset="-120"/>
              </a:rPr>
              <a:t>DOMAINE CHRISTOPHE PATRICE</a:t>
            </a:r>
            <a:endParaRPr lang="en-US" sz="850" dirty="0"/>
          </a:p>
        </p:txBody>
      </p:sp>
      <p:sp>
        <p:nvSpPr>
          <p:cNvPr id="6" name="Text 3"/>
          <p:cNvSpPr/>
          <p:nvPr/>
        </p:nvSpPr>
        <p:spPr>
          <a:xfrm>
            <a:off x="658368" y="786384"/>
            <a:ext cx="10881360" cy="566928"/>
          </a:xfrm>
          <a:prstGeom prst="rect">
            <a:avLst/>
          </a:prstGeom>
          <a:noFill/>
          <a:ln/>
        </p:spPr>
        <p:txBody>
          <a:bodyPr wrap="square" lIns="0" tIns="0" rIns="0" bIns="0" rtlCol="0" anchor="t"/>
          <a:lstStyle/>
          <a:p>
            <a:pPr indent="0" marL="0">
              <a:buNone/>
            </a:pPr>
            <a:r>
              <a:rPr lang="en-US" sz="2600" b="1" dirty="0">
                <a:solidFill>
                  <a:srgbClr val="F7F4EC"/>
                </a:solidFill>
                <a:latin typeface="Georgia" pitchFamily="34" charset="0"/>
                <a:ea typeface="Georgia" pitchFamily="34" charset="-122"/>
                <a:cs typeface="Georgia" pitchFamily="34" charset="-120"/>
              </a:rPr>
              <a:t>Une mise en ligne simple et maîtrisée.</a:t>
            </a:r>
            <a:endParaRPr lang="en-US" sz="2600" dirty="0"/>
          </a:p>
        </p:txBody>
      </p:sp>
      <p:sp>
        <p:nvSpPr>
          <p:cNvPr id="7" name="Text 4"/>
          <p:cNvSpPr/>
          <p:nvPr/>
        </p:nvSpPr>
        <p:spPr>
          <a:xfrm>
            <a:off x="658368" y="1389888"/>
            <a:ext cx="10424160" cy="347472"/>
          </a:xfrm>
          <a:prstGeom prst="rect">
            <a:avLst/>
          </a:prstGeom>
          <a:noFill/>
          <a:ln/>
        </p:spPr>
        <p:txBody>
          <a:bodyPr wrap="square" lIns="0" tIns="0" rIns="0" bIns="0" rtlCol="0" anchor="t"/>
          <a:lstStyle/>
          <a:p>
            <a:pPr indent="0" marL="0">
              <a:buNone/>
            </a:pPr>
            <a:r>
              <a:rPr lang="en-US" sz="1150" dirty="0">
                <a:solidFill>
                  <a:srgbClr val="B8B3A6"/>
                </a:solidFill>
                <a:latin typeface="Arial" pitchFamily="34" charset="0"/>
                <a:ea typeface="Arial" pitchFamily="34" charset="-122"/>
                <a:cs typeface="Arial" pitchFamily="34" charset="-120"/>
              </a:rPr>
              <a:t>Votre validation reste le point de départ de chaque contenu et de chaque décision.</a:t>
            </a:r>
            <a:endParaRPr lang="en-US" sz="1150" dirty="0"/>
          </a:p>
        </p:txBody>
      </p:sp>
      <p:sp>
        <p:nvSpPr>
          <p:cNvPr id="8" name="Shape 5"/>
          <p:cNvSpPr/>
          <p:nvPr/>
        </p:nvSpPr>
        <p:spPr>
          <a:xfrm>
            <a:off x="1234440" y="3246120"/>
            <a:ext cx="9619488" cy="0"/>
          </a:xfrm>
          <a:prstGeom prst="line">
            <a:avLst/>
          </a:prstGeom>
          <a:noFill/>
          <a:ln w="15240">
            <a:solidFill>
              <a:srgbClr val="58A07D"/>
            </a:solidFill>
            <a:prstDash val="solid"/>
          </a:ln>
        </p:spPr>
      </p:sp>
      <p:sp>
        <p:nvSpPr>
          <p:cNvPr id="9" name="Shape 6"/>
          <p:cNvSpPr/>
          <p:nvPr/>
        </p:nvSpPr>
        <p:spPr>
          <a:xfrm>
            <a:off x="1124712" y="2944368"/>
            <a:ext cx="603504" cy="603504"/>
          </a:xfrm>
          <a:prstGeom prst="ellipse">
            <a:avLst/>
          </a:prstGeom>
          <a:solidFill>
            <a:srgbClr val="2F7057"/>
          </a:solidFill>
          <a:ln w="12700">
            <a:solidFill>
              <a:srgbClr val="58A07D"/>
            </a:solidFill>
            <a:prstDash val="solid"/>
          </a:ln>
        </p:spPr>
      </p:sp>
      <p:sp>
        <p:nvSpPr>
          <p:cNvPr id="10" name="Text 7"/>
          <p:cNvSpPr/>
          <p:nvPr/>
        </p:nvSpPr>
        <p:spPr>
          <a:xfrm>
            <a:off x="1197864" y="3127248"/>
            <a:ext cx="457200" cy="182880"/>
          </a:xfrm>
          <a:prstGeom prst="rect">
            <a:avLst/>
          </a:prstGeom>
          <a:noFill/>
          <a:ln/>
        </p:spPr>
        <p:txBody>
          <a:bodyPr wrap="square" lIns="0" tIns="0" rIns="0" bIns="0" rtlCol="0" anchor="ctr"/>
          <a:lstStyle/>
          <a:p>
            <a:pPr algn="ctr" indent="0" marL="0">
              <a:buNone/>
            </a:pPr>
            <a:r>
              <a:rPr lang="en-US" sz="800" b="1" dirty="0">
                <a:solidFill>
                  <a:srgbClr val="F7F4EC"/>
                </a:solidFill>
                <a:latin typeface="Arial" pitchFamily="34" charset="0"/>
                <a:ea typeface="Arial" pitchFamily="34" charset="-122"/>
                <a:cs typeface="Arial" pitchFamily="34" charset="-120"/>
              </a:rPr>
              <a:t>01</a:t>
            </a:r>
            <a:endParaRPr lang="en-US" sz="800" dirty="0"/>
          </a:p>
        </p:txBody>
      </p:sp>
      <p:sp>
        <p:nvSpPr>
          <p:cNvPr id="11" name="Text 8"/>
          <p:cNvSpPr/>
          <p:nvPr/>
        </p:nvSpPr>
        <p:spPr>
          <a:xfrm>
            <a:off x="685800" y="3785616"/>
            <a:ext cx="1481328" cy="566928"/>
          </a:xfrm>
          <a:prstGeom prst="rect">
            <a:avLst/>
          </a:prstGeom>
          <a:noFill/>
          <a:ln/>
        </p:spPr>
        <p:txBody>
          <a:bodyPr wrap="square" lIns="0" tIns="0" rIns="0" bIns="0" rtlCol="0" anchor="t"/>
          <a:lstStyle/>
          <a:p>
            <a:pPr algn="ctr" indent="0" marL="0">
              <a:buNone/>
            </a:pPr>
            <a:r>
              <a:rPr lang="en-US" sz="1300" b="1" dirty="0">
                <a:solidFill>
                  <a:srgbClr val="F7F4EC"/>
                </a:solidFill>
                <a:latin typeface="Georgia" pitchFamily="34" charset="0"/>
                <a:ea typeface="Georgia" pitchFamily="34" charset="-122"/>
                <a:cs typeface="Georgia" pitchFamily="34" charset="-120"/>
              </a:rPr>
              <a:t>Échange</a:t>
            </a:r>
            <a:endParaRPr lang="en-US" sz="1300" dirty="0"/>
          </a:p>
        </p:txBody>
      </p:sp>
      <p:sp>
        <p:nvSpPr>
          <p:cNvPr id="12" name="Text 9"/>
          <p:cNvSpPr/>
          <p:nvPr/>
        </p:nvSpPr>
        <p:spPr>
          <a:xfrm>
            <a:off x="685800" y="4517136"/>
            <a:ext cx="1481328" cy="219456"/>
          </a:xfrm>
          <a:prstGeom prst="rect">
            <a:avLst/>
          </a:prstGeom>
          <a:noFill/>
          <a:ln/>
        </p:spPr>
        <p:txBody>
          <a:bodyPr wrap="square" lIns="0" tIns="0" rIns="0" bIns="0" rtlCol="0" anchor="ctr"/>
          <a:lstStyle/>
          <a:p>
            <a:pPr algn="ctr" indent="0" marL="0">
              <a:buNone/>
            </a:pPr>
            <a:r>
              <a:rPr lang="en-US" sz="880" b="1" dirty="0">
                <a:solidFill>
                  <a:srgbClr val="58A07D"/>
                </a:solidFill>
                <a:latin typeface="Arial" pitchFamily="34" charset="0"/>
                <a:ea typeface="Arial" pitchFamily="34" charset="-122"/>
                <a:cs typeface="Arial" pitchFamily="34" charset="-120"/>
              </a:rPr>
              <a:t>20 min</a:t>
            </a:r>
            <a:endParaRPr lang="en-US" sz="880" dirty="0"/>
          </a:p>
        </p:txBody>
      </p:sp>
      <p:sp>
        <p:nvSpPr>
          <p:cNvPr id="13" name="Shape 10"/>
          <p:cNvSpPr/>
          <p:nvPr/>
        </p:nvSpPr>
        <p:spPr>
          <a:xfrm>
            <a:off x="3374136" y="2944368"/>
            <a:ext cx="603504" cy="603504"/>
          </a:xfrm>
          <a:prstGeom prst="ellipse">
            <a:avLst/>
          </a:prstGeom>
          <a:solidFill>
            <a:srgbClr val="2F7057"/>
          </a:solidFill>
          <a:ln w="12700">
            <a:solidFill>
              <a:srgbClr val="58A07D"/>
            </a:solidFill>
            <a:prstDash val="solid"/>
          </a:ln>
        </p:spPr>
      </p:sp>
      <p:sp>
        <p:nvSpPr>
          <p:cNvPr id="14" name="Text 11"/>
          <p:cNvSpPr/>
          <p:nvPr/>
        </p:nvSpPr>
        <p:spPr>
          <a:xfrm>
            <a:off x="3447288" y="3127248"/>
            <a:ext cx="457200" cy="182880"/>
          </a:xfrm>
          <a:prstGeom prst="rect">
            <a:avLst/>
          </a:prstGeom>
          <a:noFill/>
          <a:ln/>
        </p:spPr>
        <p:txBody>
          <a:bodyPr wrap="square" lIns="0" tIns="0" rIns="0" bIns="0" rtlCol="0" anchor="ctr"/>
          <a:lstStyle/>
          <a:p>
            <a:pPr algn="ctr" indent="0" marL="0">
              <a:buNone/>
            </a:pPr>
            <a:r>
              <a:rPr lang="en-US" sz="800" b="1" dirty="0">
                <a:solidFill>
                  <a:srgbClr val="F7F4EC"/>
                </a:solidFill>
                <a:latin typeface="Arial" pitchFamily="34" charset="0"/>
                <a:ea typeface="Arial" pitchFamily="34" charset="-122"/>
                <a:cs typeface="Arial" pitchFamily="34" charset="-120"/>
              </a:rPr>
              <a:t>02</a:t>
            </a:r>
            <a:endParaRPr lang="en-US" sz="800" dirty="0"/>
          </a:p>
        </p:txBody>
      </p:sp>
      <p:sp>
        <p:nvSpPr>
          <p:cNvPr id="15" name="Text 12"/>
          <p:cNvSpPr/>
          <p:nvPr/>
        </p:nvSpPr>
        <p:spPr>
          <a:xfrm>
            <a:off x="2935224" y="3785616"/>
            <a:ext cx="1481328" cy="566928"/>
          </a:xfrm>
          <a:prstGeom prst="rect">
            <a:avLst/>
          </a:prstGeom>
          <a:noFill/>
          <a:ln/>
        </p:spPr>
        <p:txBody>
          <a:bodyPr wrap="square" lIns="0" tIns="0" rIns="0" bIns="0" rtlCol="0" anchor="t"/>
          <a:lstStyle/>
          <a:p>
            <a:pPr algn="ctr" indent="0" marL="0">
              <a:buNone/>
            </a:pPr>
            <a:r>
              <a:rPr lang="en-US" sz="1300" b="1" dirty="0">
                <a:solidFill>
                  <a:srgbClr val="F7F4EC"/>
                </a:solidFill>
                <a:latin typeface="Georgia" pitchFamily="34" charset="0"/>
                <a:ea typeface="Georgia" pitchFamily="34" charset="-122"/>
                <a:cs typeface="Georgia" pitchFamily="34" charset="-120"/>
              </a:rPr>
              <a:t>Validation</a:t>
            </a:r>
            <a:endParaRPr lang="en-US" sz="1300" dirty="0"/>
          </a:p>
          <a:p>
            <a:pPr algn="ctr" indent="0" marL="0">
              <a:buNone/>
            </a:pPr>
            <a:r>
              <a:rPr lang="en-US" sz="1300" b="1" dirty="0">
                <a:solidFill>
                  <a:srgbClr val="F7F4EC"/>
                </a:solidFill>
                <a:latin typeface="Georgia" pitchFamily="34" charset="0"/>
                <a:ea typeface="Georgia" pitchFamily="34" charset="-122"/>
                <a:cs typeface="Georgia" pitchFamily="34" charset="-120"/>
              </a:rPr>
              <a:t>des contenus</a:t>
            </a:r>
            <a:endParaRPr lang="en-US" sz="1300" dirty="0"/>
          </a:p>
        </p:txBody>
      </p:sp>
      <p:sp>
        <p:nvSpPr>
          <p:cNvPr id="16" name="Text 13"/>
          <p:cNvSpPr/>
          <p:nvPr/>
        </p:nvSpPr>
        <p:spPr>
          <a:xfrm>
            <a:off x="2935224" y="4517136"/>
            <a:ext cx="1481328" cy="219456"/>
          </a:xfrm>
          <a:prstGeom prst="rect">
            <a:avLst/>
          </a:prstGeom>
          <a:noFill/>
          <a:ln/>
        </p:spPr>
        <p:txBody>
          <a:bodyPr wrap="square" lIns="0" tIns="0" rIns="0" bIns="0" rtlCol="0" anchor="ctr"/>
          <a:lstStyle/>
          <a:p>
            <a:pPr algn="ctr" indent="0" marL="0">
              <a:buNone/>
            </a:pPr>
            <a:r>
              <a:rPr lang="en-US" sz="880" b="1" dirty="0">
                <a:solidFill>
                  <a:srgbClr val="58A07D"/>
                </a:solidFill>
                <a:latin typeface="Arial" pitchFamily="34" charset="0"/>
                <a:ea typeface="Arial" pitchFamily="34" charset="-122"/>
                <a:cs typeface="Arial" pitchFamily="34" charset="-120"/>
              </a:rPr>
              <a:t>45 min</a:t>
            </a:r>
            <a:endParaRPr lang="en-US" sz="880" dirty="0"/>
          </a:p>
        </p:txBody>
      </p:sp>
      <p:sp>
        <p:nvSpPr>
          <p:cNvPr id="17" name="Shape 14"/>
          <p:cNvSpPr/>
          <p:nvPr/>
        </p:nvSpPr>
        <p:spPr>
          <a:xfrm>
            <a:off x="5623560" y="2944368"/>
            <a:ext cx="603504" cy="603504"/>
          </a:xfrm>
          <a:prstGeom prst="ellipse">
            <a:avLst/>
          </a:prstGeom>
          <a:solidFill>
            <a:srgbClr val="2F7057"/>
          </a:solidFill>
          <a:ln w="12700">
            <a:solidFill>
              <a:srgbClr val="58A07D"/>
            </a:solidFill>
            <a:prstDash val="solid"/>
          </a:ln>
        </p:spPr>
      </p:sp>
      <p:sp>
        <p:nvSpPr>
          <p:cNvPr id="18" name="Text 15"/>
          <p:cNvSpPr/>
          <p:nvPr/>
        </p:nvSpPr>
        <p:spPr>
          <a:xfrm>
            <a:off x="5696712" y="3127248"/>
            <a:ext cx="457200" cy="182880"/>
          </a:xfrm>
          <a:prstGeom prst="rect">
            <a:avLst/>
          </a:prstGeom>
          <a:noFill/>
          <a:ln/>
        </p:spPr>
        <p:txBody>
          <a:bodyPr wrap="square" lIns="0" tIns="0" rIns="0" bIns="0" rtlCol="0" anchor="ctr"/>
          <a:lstStyle/>
          <a:p>
            <a:pPr algn="ctr" indent="0" marL="0">
              <a:buNone/>
            </a:pPr>
            <a:r>
              <a:rPr lang="en-US" sz="800" b="1" dirty="0">
                <a:solidFill>
                  <a:srgbClr val="F7F4EC"/>
                </a:solidFill>
                <a:latin typeface="Arial" pitchFamily="34" charset="0"/>
                <a:ea typeface="Arial" pitchFamily="34" charset="-122"/>
                <a:cs typeface="Arial" pitchFamily="34" charset="-120"/>
              </a:rPr>
              <a:t>03</a:t>
            </a:r>
            <a:endParaRPr lang="en-US" sz="800" dirty="0"/>
          </a:p>
        </p:txBody>
      </p:sp>
      <p:sp>
        <p:nvSpPr>
          <p:cNvPr id="19" name="Text 16"/>
          <p:cNvSpPr/>
          <p:nvPr/>
        </p:nvSpPr>
        <p:spPr>
          <a:xfrm>
            <a:off x="5184648" y="3785616"/>
            <a:ext cx="1481328" cy="566928"/>
          </a:xfrm>
          <a:prstGeom prst="rect">
            <a:avLst/>
          </a:prstGeom>
          <a:noFill/>
          <a:ln/>
        </p:spPr>
        <p:txBody>
          <a:bodyPr wrap="square" lIns="0" tIns="0" rIns="0" bIns="0" rtlCol="0" anchor="t"/>
          <a:lstStyle/>
          <a:p>
            <a:pPr algn="ctr" indent="0" marL="0">
              <a:buNone/>
            </a:pPr>
            <a:r>
              <a:rPr lang="en-US" sz="1300" b="1" dirty="0">
                <a:solidFill>
                  <a:srgbClr val="F7F4EC"/>
                </a:solidFill>
                <a:latin typeface="Georgia" pitchFamily="34" charset="0"/>
                <a:ea typeface="Georgia" pitchFamily="34" charset="-122"/>
                <a:cs typeface="Georgia" pitchFamily="34" charset="-120"/>
              </a:rPr>
              <a:t>Ajustements</a:t>
            </a:r>
            <a:endParaRPr lang="en-US" sz="1300" dirty="0"/>
          </a:p>
        </p:txBody>
      </p:sp>
      <p:sp>
        <p:nvSpPr>
          <p:cNvPr id="20" name="Text 17"/>
          <p:cNvSpPr/>
          <p:nvPr/>
        </p:nvSpPr>
        <p:spPr>
          <a:xfrm>
            <a:off x="5184648" y="4517136"/>
            <a:ext cx="1481328" cy="219456"/>
          </a:xfrm>
          <a:prstGeom prst="rect">
            <a:avLst/>
          </a:prstGeom>
          <a:noFill/>
          <a:ln/>
        </p:spPr>
        <p:txBody>
          <a:bodyPr wrap="square" lIns="0" tIns="0" rIns="0" bIns="0" rtlCol="0" anchor="ctr"/>
          <a:lstStyle/>
          <a:p>
            <a:pPr algn="ctr" indent="0" marL="0">
              <a:buNone/>
            </a:pPr>
            <a:r>
              <a:rPr lang="en-US" sz="880" b="1" dirty="0">
                <a:solidFill>
                  <a:srgbClr val="58A07D"/>
                </a:solidFill>
                <a:latin typeface="Arial" pitchFamily="34" charset="0"/>
                <a:ea typeface="Arial" pitchFamily="34" charset="-122"/>
                <a:cs typeface="Arial" pitchFamily="34" charset="-120"/>
              </a:rPr>
              <a:t>5–7 jours</a:t>
            </a:r>
            <a:endParaRPr lang="en-US" sz="880" dirty="0"/>
          </a:p>
        </p:txBody>
      </p:sp>
      <p:sp>
        <p:nvSpPr>
          <p:cNvPr id="21" name="Shape 18"/>
          <p:cNvSpPr/>
          <p:nvPr/>
        </p:nvSpPr>
        <p:spPr>
          <a:xfrm>
            <a:off x="7872984" y="2944368"/>
            <a:ext cx="603504" cy="603504"/>
          </a:xfrm>
          <a:prstGeom prst="ellipse">
            <a:avLst/>
          </a:prstGeom>
          <a:solidFill>
            <a:srgbClr val="2F7057"/>
          </a:solidFill>
          <a:ln w="12700">
            <a:solidFill>
              <a:srgbClr val="58A07D"/>
            </a:solidFill>
            <a:prstDash val="solid"/>
          </a:ln>
        </p:spPr>
      </p:sp>
      <p:sp>
        <p:nvSpPr>
          <p:cNvPr id="22" name="Text 19"/>
          <p:cNvSpPr/>
          <p:nvPr/>
        </p:nvSpPr>
        <p:spPr>
          <a:xfrm>
            <a:off x="7946136" y="3127248"/>
            <a:ext cx="457200" cy="182880"/>
          </a:xfrm>
          <a:prstGeom prst="rect">
            <a:avLst/>
          </a:prstGeom>
          <a:noFill/>
          <a:ln/>
        </p:spPr>
        <p:txBody>
          <a:bodyPr wrap="square" lIns="0" tIns="0" rIns="0" bIns="0" rtlCol="0" anchor="ctr"/>
          <a:lstStyle/>
          <a:p>
            <a:pPr algn="ctr" indent="0" marL="0">
              <a:buNone/>
            </a:pPr>
            <a:r>
              <a:rPr lang="en-US" sz="800" b="1" dirty="0">
                <a:solidFill>
                  <a:srgbClr val="F7F4EC"/>
                </a:solidFill>
                <a:latin typeface="Arial" pitchFamily="34" charset="0"/>
                <a:ea typeface="Arial" pitchFamily="34" charset="-122"/>
                <a:cs typeface="Arial" pitchFamily="34" charset="-120"/>
              </a:rPr>
              <a:t>04</a:t>
            </a:r>
            <a:endParaRPr lang="en-US" sz="800" dirty="0"/>
          </a:p>
        </p:txBody>
      </p:sp>
      <p:sp>
        <p:nvSpPr>
          <p:cNvPr id="23" name="Text 20"/>
          <p:cNvSpPr/>
          <p:nvPr/>
        </p:nvSpPr>
        <p:spPr>
          <a:xfrm>
            <a:off x="7434072" y="3785616"/>
            <a:ext cx="1481328" cy="566928"/>
          </a:xfrm>
          <a:prstGeom prst="rect">
            <a:avLst/>
          </a:prstGeom>
          <a:noFill/>
          <a:ln/>
        </p:spPr>
        <p:txBody>
          <a:bodyPr wrap="square" lIns="0" tIns="0" rIns="0" bIns="0" rtlCol="0" anchor="t"/>
          <a:lstStyle/>
          <a:p>
            <a:pPr algn="ctr" indent="0" marL="0">
              <a:buNone/>
            </a:pPr>
            <a:r>
              <a:rPr lang="en-US" sz="1300" b="1" dirty="0">
                <a:solidFill>
                  <a:srgbClr val="F7F4EC"/>
                </a:solidFill>
                <a:latin typeface="Georgia" pitchFamily="34" charset="0"/>
                <a:ea typeface="Georgia" pitchFamily="34" charset="-122"/>
                <a:cs typeface="Georgia" pitchFamily="34" charset="-120"/>
              </a:rPr>
              <a:t>Accord final</a:t>
            </a:r>
            <a:endParaRPr lang="en-US" sz="1300" dirty="0"/>
          </a:p>
          <a:p>
            <a:pPr algn="ctr" indent="0" marL="0">
              <a:buNone/>
            </a:pPr>
            <a:r>
              <a:rPr lang="en-US" sz="1300" b="1" dirty="0">
                <a:solidFill>
                  <a:srgbClr val="F7F4EC"/>
                </a:solidFill>
                <a:latin typeface="Georgia" pitchFamily="34" charset="0"/>
                <a:ea typeface="Georgia" pitchFamily="34" charset="-122"/>
                <a:cs typeface="Georgia" pitchFamily="34" charset="-120"/>
              </a:rPr>
              <a:t>et domaine</a:t>
            </a:r>
            <a:endParaRPr lang="en-US" sz="1300" dirty="0"/>
          </a:p>
        </p:txBody>
      </p:sp>
      <p:sp>
        <p:nvSpPr>
          <p:cNvPr id="24" name="Text 21"/>
          <p:cNvSpPr/>
          <p:nvPr/>
        </p:nvSpPr>
        <p:spPr>
          <a:xfrm>
            <a:off x="7434072" y="4517136"/>
            <a:ext cx="1481328" cy="219456"/>
          </a:xfrm>
          <a:prstGeom prst="rect">
            <a:avLst/>
          </a:prstGeom>
          <a:noFill/>
          <a:ln/>
        </p:spPr>
        <p:txBody>
          <a:bodyPr wrap="square" lIns="0" tIns="0" rIns="0" bIns="0" rtlCol="0" anchor="ctr"/>
          <a:lstStyle/>
          <a:p>
            <a:pPr algn="ctr" indent="0" marL="0">
              <a:buNone/>
            </a:pPr>
            <a:r>
              <a:rPr lang="en-US" sz="880" b="1" dirty="0">
                <a:solidFill>
                  <a:srgbClr val="58A07D"/>
                </a:solidFill>
                <a:latin typeface="Arial" pitchFamily="34" charset="0"/>
                <a:ea typeface="Arial" pitchFamily="34" charset="-122"/>
                <a:cs typeface="Arial" pitchFamily="34" charset="-120"/>
              </a:rPr>
              <a:t>1 rendez-vous</a:t>
            </a:r>
            <a:endParaRPr lang="en-US" sz="880" dirty="0"/>
          </a:p>
        </p:txBody>
      </p:sp>
      <p:sp>
        <p:nvSpPr>
          <p:cNvPr id="25" name="Shape 22"/>
          <p:cNvSpPr/>
          <p:nvPr/>
        </p:nvSpPr>
        <p:spPr>
          <a:xfrm>
            <a:off x="10122408" y="2944368"/>
            <a:ext cx="603504" cy="603504"/>
          </a:xfrm>
          <a:prstGeom prst="ellipse">
            <a:avLst/>
          </a:prstGeom>
          <a:solidFill>
            <a:srgbClr val="2F7057"/>
          </a:solidFill>
          <a:ln w="12700">
            <a:solidFill>
              <a:srgbClr val="58A07D"/>
            </a:solidFill>
            <a:prstDash val="solid"/>
          </a:ln>
        </p:spPr>
      </p:sp>
      <p:sp>
        <p:nvSpPr>
          <p:cNvPr id="26" name="Text 23"/>
          <p:cNvSpPr/>
          <p:nvPr/>
        </p:nvSpPr>
        <p:spPr>
          <a:xfrm>
            <a:off x="10195560" y="3127248"/>
            <a:ext cx="457200" cy="182880"/>
          </a:xfrm>
          <a:prstGeom prst="rect">
            <a:avLst/>
          </a:prstGeom>
          <a:noFill/>
          <a:ln/>
        </p:spPr>
        <p:txBody>
          <a:bodyPr wrap="square" lIns="0" tIns="0" rIns="0" bIns="0" rtlCol="0" anchor="ctr"/>
          <a:lstStyle/>
          <a:p>
            <a:pPr algn="ctr" indent="0" marL="0">
              <a:buNone/>
            </a:pPr>
            <a:r>
              <a:rPr lang="en-US" sz="800" b="1" dirty="0">
                <a:solidFill>
                  <a:srgbClr val="F7F4EC"/>
                </a:solidFill>
                <a:latin typeface="Arial" pitchFamily="34" charset="0"/>
                <a:ea typeface="Arial" pitchFamily="34" charset="-122"/>
                <a:cs typeface="Arial" pitchFamily="34" charset="-120"/>
              </a:rPr>
              <a:t>05</a:t>
            </a:r>
            <a:endParaRPr lang="en-US" sz="800" dirty="0"/>
          </a:p>
        </p:txBody>
      </p:sp>
      <p:sp>
        <p:nvSpPr>
          <p:cNvPr id="27" name="Text 24"/>
          <p:cNvSpPr/>
          <p:nvPr/>
        </p:nvSpPr>
        <p:spPr>
          <a:xfrm>
            <a:off x="9683496" y="3785616"/>
            <a:ext cx="1481328" cy="566928"/>
          </a:xfrm>
          <a:prstGeom prst="rect">
            <a:avLst/>
          </a:prstGeom>
          <a:noFill/>
          <a:ln/>
        </p:spPr>
        <p:txBody>
          <a:bodyPr wrap="square" lIns="0" tIns="0" rIns="0" bIns="0" rtlCol="0" anchor="t"/>
          <a:lstStyle/>
          <a:p>
            <a:pPr algn="ctr" indent="0" marL="0">
              <a:buNone/>
            </a:pPr>
            <a:r>
              <a:rPr lang="en-US" sz="1300" b="1" dirty="0">
                <a:solidFill>
                  <a:srgbClr val="F7F4EC"/>
                </a:solidFill>
                <a:latin typeface="Georgia" pitchFamily="34" charset="0"/>
                <a:ea typeface="Georgia" pitchFamily="34" charset="-122"/>
                <a:cs typeface="Georgia" pitchFamily="34" charset="-120"/>
              </a:rPr>
              <a:t>Suivi</a:t>
            </a:r>
            <a:endParaRPr lang="en-US" sz="1300" dirty="0"/>
          </a:p>
        </p:txBody>
      </p:sp>
      <p:sp>
        <p:nvSpPr>
          <p:cNvPr id="28" name="Text 25"/>
          <p:cNvSpPr/>
          <p:nvPr/>
        </p:nvSpPr>
        <p:spPr>
          <a:xfrm>
            <a:off x="9683496" y="4517136"/>
            <a:ext cx="1481328" cy="219456"/>
          </a:xfrm>
          <a:prstGeom prst="rect">
            <a:avLst/>
          </a:prstGeom>
          <a:noFill/>
          <a:ln/>
        </p:spPr>
        <p:txBody>
          <a:bodyPr wrap="square" lIns="0" tIns="0" rIns="0" bIns="0" rtlCol="0" anchor="ctr"/>
          <a:lstStyle/>
          <a:p>
            <a:pPr algn="ctr" indent="0" marL="0">
              <a:buNone/>
            </a:pPr>
            <a:r>
              <a:rPr lang="en-US" sz="880" b="1" dirty="0">
                <a:solidFill>
                  <a:srgbClr val="58A07D"/>
                </a:solidFill>
                <a:latin typeface="Arial" pitchFamily="34" charset="0"/>
                <a:ea typeface="Arial" pitchFamily="34" charset="-122"/>
                <a:cs typeface="Arial" pitchFamily="34" charset="-120"/>
              </a:rPr>
              <a:t>30 jours</a:t>
            </a:r>
            <a:endParaRPr lang="en-US" sz="880" dirty="0"/>
          </a:p>
        </p:txBody>
      </p:sp>
      <p:sp>
        <p:nvSpPr>
          <p:cNvPr id="29" name="Shape 26"/>
          <p:cNvSpPr/>
          <p:nvPr/>
        </p:nvSpPr>
        <p:spPr>
          <a:xfrm>
            <a:off x="1828800" y="5285232"/>
            <a:ext cx="8531352" cy="749808"/>
          </a:xfrm>
          <a:prstGeom prst="roundRect">
            <a:avLst>
              <a:gd name="adj" fmla="val 4878"/>
            </a:avLst>
          </a:prstGeom>
          <a:solidFill>
            <a:srgbClr val="F7F4EC"/>
          </a:solidFill>
          <a:ln w="12700">
            <a:solidFill>
              <a:srgbClr val="F7F4EC"/>
            </a:solidFill>
            <a:prstDash val="solid"/>
          </a:ln>
        </p:spPr>
      </p:sp>
      <p:sp>
        <p:nvSpPr>
          <p:cNvPr id="30" name="Text 27"/>
          <p:cNvSpPr/>
          <p:nvPr/>
        </p:nvSpPr>
        <p:spPr>
          <a:xfrm>
            <a:off x="2057400" y="5477256"/>
            <a:ext cx="8074152" cy="310896"/>
          </a:xfrm>
          <a:prstGeom prst="rect">
            <a:avLst/>
          </a:prstGeom>
          <a:noFill/>
          <a:ln/>
        </p:spPr>
        <p:txBody>
          <a:bodyPr wrap="square" lIns="0" tIns="0" rIns="0" bIns="0" rtlCol="0" anchor="ctr"/>
          <a:lstStyle/>
          <a:p>
            <a:pPr algn="ctr" indent="0" marL="0">
              <a:buNone/>
            </a:pPr>
            <a:r>
              <a:rPr lang="en-US" sz="1700" b="1" dirty="0">
                <a:solidFill>
                  <a:srgbClr val="171A15"/>
                </a:solidFill>
                <a:latin typeface="Georgia" pitchFamily="34" charset="0"/>
                <a:ea typeface="Georgia" pitchFamily="34" charset="-122"/>
                <a:cs typeface="Georgia" pitchFamily="34" charset="-120"/>
              </a:rPr>
              <a:t>Un échange de 20 minutes suffit pour décider de la suite.</a:t>
            </a:r>
            <a:endParaRPr lang="en-US" sz="1700" dirty="0"/>
          </a:p>
        </p:txBody>
      </p:sp>
      <p:sp>
        <p:nvSpPr>
          <p:cNvPr id="31" name="Shape 28"/>
          <p:cNvSpPr/>
          <p:nvPr/>
        </p:nvSpPr>
        <p:spPr>
          <a:xfrm>
            <a:off x="658368" y="6528816"/>
            <a:ext cx="10863072" cy="0"/>
          </a:xfrm>
          <a:prstGeom prst="line">
            <a:avLst/>
          </a:prstGeom>
          <a:noFill/>
          <a:ln w="8890">
            <a:solidFill>
              <a:srgbClr val="383C32"/>
            </a:solidFill>
            <a:prstDash val="solid"/>
          </a:ln>
        </p:spPr>
      </p:sp>
      <p:sp>
        <p:nvSpPr>
          <p:cNvPr id="32" name="Text 29"/>
          <p:cNvSpPr/>
          <p:nvPr/>
        </p:nvSpPr>
        <p:spPr>
          <a:xfrm>
            <a:off x="658368" y="6574536"/>
            <a:ext cx="9966960" cy="146304"/>
          </a:xfrm>
          <a:prstGeom prst="rect">
            <a:avLst/>
          </a:prstGeom>
          <a:noFill/>
          <a:ln/>
        </p:spPr>
        <p:txBody>
          <a:bodyPr wrap="square" lIns="0" tIns="0" rIns="0" bIns="0" rtlCol="0" anchor="t"/>
          <a:lstStyle/>
          <a:p>
            <a:pPr indent="0" marL="0">
              <a:buNone/>
            </a:pPr>
            <a:endParaRPr lang="en-US" sz="640" dirty="0"/>
          </a:p>
        </p:txBody>
      </p:sp>
      <p:sp>
        <p:nvSpPr>
          <p:cNvPr id="33" name="Text 30"/>
          <p:cNvSpPr/>
          <p:nvPr/>
        </p:nvSpPr>
        <p:spPr>
          <a:xfrm>
            <a:off x="11045952" y="6556248"/>
            <a:ext cx="475488" cy="164592"/>
          </a:xfrm>
          <a:prstGeom prst="rect">
            <a:avLst/>
          </a:prstGeom>
          <a:noFill/>
          <a:ln/>
        </p:spPr>
        <p:txBody>
          <a:bodyPr wrap="square" lIns="0" tIns="0" rIns="0" bIns="0" rtlCol="0" anchor="ctr"/>
          <a:lstStyle/>
          <a:p>
            <a:pPr algn="r" indent="0" marL="0">
              <a:buNone/>
            </a:pPr>
            <a:r>
              <a:rPr lang="en-US" sz="750" b="1" dirty="0">
                <a:solidFill>
                  <a:srgbClr val="58A07D"/>
                </a:solidFill>
                <a:latin typeface="Arial" pitchFamily="34" charset="0"/>
                <a:ea typeface="Arial" pitchFamily="34" charset="-122"/>
                <a:cs typeface="Arial" pitchFamily="34" charset="-120"/>
              </a:rPr>
              <a:t>07</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Thibaud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Une présence digitale à la hauteur du Domaine Christophe Patrice</dc:title>
  <dc:subject>Proposition de nouvelle vitrine digitale pour le Domaine Christophe Patrice</dc:subject>
  <dc:creator>Thibaud</dc:creator>
  <cp:lastModifiedBy>Thibaud</cp:lastModifiedBy>
  <cp:revision>1</cp:revision>
  <dcterms:created xsi:type="dcterms:W3CDTF">2026-07-27T18:18:21Z</dcterms:created>
  <dcterms:modified xsi:type="dcterms:W3CDTF">2026-07-27T18:18:21Z</dcterms:modified>
</cp:coreProperties>
</file>