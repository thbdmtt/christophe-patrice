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thibaud.myotte@gmail.com?subject=Nouveau%20site%20du%20domain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rcRect b="575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77639"/>
            <a:ext cx="12191695" cy="2880360"/>
          </a:xfrm>
          <a:prstGeom prst="rect">
            <a:avLst/>
          </a:prstGeom>
          <a:solidFill>
            <a:srgbClr val="17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4572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F1EDE2"/>
                </a:solidFill>
                <a:latin typeface="Arial"/>
              </a:rPr>
              <a:t>Présenté par Thibaud Myotte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B8B3A6"/>
                </a:solidFill>
                <a:latin typeface="Arial"/>
              </a:rPr>
              <a:t>thibaud.myotte@gmail.com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352544"/>
            <a:ext cx="256032" cy="12801"/>
          </a:xfrm>
          <a:prstGeom prst="rect">
            <a:avLst/>
          </a:prstGeom>
          <a:solidFill>
            <a:srgbClr val="58A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419709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8A07D"/>
                </a:solidFill>
                <a:latin typeface="Arial"/>
              </a:rPr>
              <a:t>BEINE · COURGIS · CHABLIS · IRANCY — YONNE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400" b="1" i="0">
                <a:solidFill>
                  <a:srgbClr val="F1EDE2"/>
                </a:solidFill>
                <a:latin typeface="Georgia"/>
              </a:rPr>
              <a:t>Domaine Christophe Patrice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B8B3A6"/>
                </a:solidFill>
                <a:latin typeface="Arial"/>
              </a:rPr>
              <a:t>Une proposition de nouveau site — pensée par un amateur de vos vins, à l'image de vos cuvées.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8A07D"/>
                </a:solidFill>
                <a:latin typeface="Arial"/>
              </a:rPr>
              <a:t>01 — Ouverture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02 — 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i="0">
                <a:solidFill>
                  <a:srgbClr val="20231E"/>
                </a:solidFill>
                <a:latin typeface="Georgia"/>
              </a:rPr>
              <a:t>Vos vins méritent mieux qu'un site générique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5E55"/>
                </a:solidFill>
                <a:latin typeface="Arial"/>
              </a:rPr>
              <a:t>Ce constat ne porte pas sur le travail au domaine — seulement sur l'outil qui le représente en ligne aujourd'hui.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96896"/>
            <a:ext cx="91440" cy="9144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78024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20231E"/>
                </a:solidFill>
                <a:latin typeface="Arial"/>
              </a:rPr>
              <a:t>Un modèle de site standard, sans identité propre au domaine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55263"/>
            <a:ext cx="91440" cy="9144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36391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20231E"/>
                </a:solidFill>
                <a:latin typeface="Arial"/>
              </a:rPr>
              <a:t>La balise titre de la page d'accueil est vide — invisible pour Google et dans l'onglet du navigateur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913631"/>
            <a:ext cx="91440" cy="9144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20231E"/>
                </a:solidFill>
                <a:latin typeface="Arial"/>
              </a:rPr>
              <a:t>Aucune distinction ni médaille mise en valeur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1999"/>
            <a:ext cx="91440" cy="9144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53127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20231E"/>
                </a:solidFill>
                <a:latin typeface="Arial"/>
              </a:rPr>
              <a:t>Des dates de fermeture d'une saison passée encore affichées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30367"/>
            <a:ext cx="91440" cy="9144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11495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20231E"/>
                </a:solidFill>
                <a:latin typeface="Arial"/>
              </a:rPr>
              <a:t>Aucune version anglaise, malgré la fréquentation touristique du Chablisien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822960"/>
            <a:ext cx="4160520" cy="5120640"/>
          </a:xfrm>
          <a:prstGeom prst="rect">
            <a:avLst/>
          </a:prstGeom>
          <a:solidFill>
            <a:srgbClr val="FAF8F2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896112"/>
            <a:ext cx="4014215" cy="46542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71231" y="5650992"/>
            <a:ext cx="4014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A5E55"/>
                </a:solidFill>
                <a:latin typeface="Arial"/>
              </a:rPr>
              <a:t>Une sélection qui ne demande qu'à être mieux montrée.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03 — CE QUI A ÉTÉ CONSTRUIT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20231E"/>
                </a:solidFill>
                <a:latin typeface="Georgia"/>
              </a:rPr>
              <a:t>Un site à l'image du domaine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5E55"/>
                </a:solidFill>
                <a:latin typeface="Arial"/>
              </a:rPr>
              <a:t>Quatre partis pris qui distinguent la proposition d'un simple relookage.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5440680" cy="178308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1576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7057"/>
                </a:solidFill>
                <a:latin typeface="Arial"/>
              </a:rPr>
              <a:t>TERROIR DOCUMENTÉ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20231E"/>
                </a:solidFill>
                <a:latin typeface="Georgia"/>
              </a:rPr>
              <a:t>Du Portlandien au Kimméridgien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Une carte du terroir cuvée par cuvée : plateau, coteaux, Premiers Crus, Irancy.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2514600"/>
            <a:ext cx="5440680" cy="178308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71576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7057"/>
                </a:solidFill>
                <a:latin typeface="Arial"/>
              </a:rPr>
              <a:t>RIGUEUR FACTUELLE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0175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20231E"/>
                </a:solidFill>
                <a:latin typeface="Georgia"/>
              </a:rPr>
              <a:t>Rien d'inventé, rien de contradictoire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502152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Chaque donnée publiée est sourcée ; le reste est annoncé « sur demande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62272"/>
            <a:ext cx="5440680" cy="178308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7057"/>
                </a:solidFill>
                <a:latin typeface="Arial"/>
              </a:rPr>
              <a:t>PRISE DE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6519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20231E"/>
                </a:solidFill>
                <a:latin typeface="Georgia"/>
              </a:rPr>
              <a:t>Une porte d'entrée complète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9824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Appel, email, itinéraire, formulaire et tarifs professionnels en un geste.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4462272"/>
            <a:ext cx="5440680" cy="178308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66344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7057"/>
                </a:solidFill>
                <a:latin typeface="Arial"/>
              </a:rPr>
              <a:t>BILINGUE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6519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20231E"/>
                </a:solidFill>
                <a:latin typeface="Georgia"/>
              </a:rPr>
              <a:t>Français /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5449824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Site, formulaire et fiches terroir intégralement traduits pour la clientèle de passage.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2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04 — AVANT / APRÈS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20231E"/>
                </a:solidFill>
                <a:latin typeface="Georgia"/>
              </a:rPr>
              <a:t>Ce qui change concrètement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343400"/>
          </a:xfrm>
          <a:prstGeom prst="rect">
            <a:avLst/>
          </a:prstGeom>
          <a:noFill/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59" y="1874519"/>
            <a:ext cx="5349240" cy="4343400"/>
          </a:xfrm>
          <a:prstGeom prst="rect">
            <a:avLst/>
          </a:prstGeom>
          <a:solidFill>
            <a:srgbClr val="FAF8F2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A5E55"/>
                </a:solidFill>
                <a:latin typeface="Arial"/>
              </a:rPr>
              <a:t>AUJOURD'HUI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79" y="205740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IDENTITÉ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Modèle générique de constructeur de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2560320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IDENTITÉ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76148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20231E"/>
                </a:solidFill>
                <a:latin typeface="Arial"/>
              </a:rPr>
              <a:t>Palette, typographie et ton propres au domaine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CUVÉES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Listées sans terroir ni contexte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327355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CUVÉES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4747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20231E"/>
                </a:solidFill>
                <a:latin typeface="Arial"/>
              </a:rPr>
              <a:t>Sol, garde, service, terroir associé à la carte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00400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3200400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86784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DISTINCTIONS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8795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Non mises en avant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986784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DISTINCTIONS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418795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20231E"/>
                </a:solidFill>
                <a:latin typeface="Arial"/>
              </a:rPr>
              <a:t>Présentées, datées, par cuvée et millésime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13632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3913632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00016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LANGUE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011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Français uniquement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700016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LANGUE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49011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20231E"/>
                </a:solidFill>
                <a:latin typeface="Arial"/>
              </a:rPr>
              <a:t>Français et anglais intégral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626864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79" y="4626864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13248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1441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Téléphone et adresse, sans formulaire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5413248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5A5E55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561441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20231E"/>
                </a:solidFill>
                <a:latin typeface="Arial"/>
              </a:rPr>
              <a:t>Appel, email, itinéraire, formulaire, tarifs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340096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79" y="5340096"/>
            <a:ext cx="480060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58A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8A07D"/>
                </a:solidFill>
                <a:latin typeface="Arial"/>
              </a:rPr>
              <a:t>05 — LA RIGUEUR FACTUELLE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F1EDE2"/>
                </a:solidFill>
                <a:latin typeface="Georgia"/>
              </a:rPr>
              <a:t>Rien n'est affirmé sans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B8B3A6"/>
                </a:solidFill>
                <a:latin typeface="Arial"/>
              </a:rPr>
              <a:t>Chaque information contradictoire ou non confirmée a été retirée plutôt qu'arrondie.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6400800" cy="960120"/>
          </a:xfrm>
          <a:prstGeom prst="rect">
            <a:avLst/>
          </a:prstGeom>
          <a:noFill/>
          <a:ln w="12700">
            <a:solidFill>
              <a:srgbClr val="383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42616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B8B3A6"/>
                </a:solidFill>
                <a:latin typeface="Arial"/>
              </a:rPr>
              <a:t>Surface actuelle affichée (22 ha)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8620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8A07D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642616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1EDE2"/>
                </a:solidFill>
                <a:latin typeface="Arial"/>
              </a:rPr>
              <a:t>Non publiée : le Guide Hachette indique 19 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30168"/>
            <a:ext cx="6400800" cy="960120"/>
          </a:xfrm>
          <a:prstGeom prst="rect">
            <a:avLst/>
          </a:prstGeom>
          <a:noFill/>
          <a:ln w="12700">
            <a:solidFill>
              <a:srgbClr val="383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58183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B8B3A6"/>
                </a:solidFill>
                <a:latin typeface="Arial"/>
              </a:rPr>
              <a:t>« Collection complète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9776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8A07D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758183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1EDE2"/>
                </a:solidFill>
                <a:latin typeface="Arial"/>
              </a:rPr>
              <a:t>« Une sélection documentée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45736"/>
            <a:ext cx="6400800" cy="960120"/>
          </a:xfrm>
          <a:prstGeom prst="rect">
            <a:avLst/>
          </a:prstGeom>
          <a:noFill/>
          <a:ln w="12700">
            <a:solidFill>
              <a:srgbClr val="383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1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B8B3A6"/>
                </a:solidFill>
                <a:latin typeface="Arial"/>
              </a:rPr>
              <a:t>Distinctions non datées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09320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8A07D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873751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1EDE2"/>
                </a:solidFill>
                <a:latin typeface="Arial"/>
              </a:rPr>
              <a:t>Présentées comme archive 2019–2020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822960"/>
            <a:ext cx="4160520" cy="5120640"/>
          </a:xfrm>
          <a:prstGeom prst="rect">
            <a:avLst/>
          </a:prstGeom>
          <a:solidFill>
            <a:srgbClr val="171A15"/>
          </a:solidFill>
          <a:ln w="12700">
            <a:solidFill>
              <a:srgbClr val="383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896112"/>
            <a:ext cx="4014215" cy="46542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71231" y="5650992"/>
            <a:ext cx="4014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B8B3A6"/>
                </a:solidFill>
                <a:latin typeface="Arial"/>
              </a:rPr>
              <a:t>Le site parle de vous — il doit être exact avant d'être séduisant.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8B3A6"/>
                </a:solidFill>
                <a:latin typeface="Arial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06 — PRISE DE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20231E"/>
                </a:solidFill>
                <a:latin typeface="Georgia"/>
              </a:rPr>
              <a:t>Une porte d'entrée plus large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5E55"/>
                </a:solidFill>
                <a:latin typeface="Arial"/>
              </a:rPr>
              <a:t>Les services déjà annoncés par le domaine, enfin visibles et actionnables en un clic.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36576" cy="155448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48716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0231E"/>
                </a:solidFill>
                <a:latin typeface="Georgia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0632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A5E55"/>
                </a:solidFill>
                <a:latin typeface="Arial"/>
              </a:rPr>
              <a:t>Livraison gratuite à partir de 60 bouteilles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514600"/>
            <a:ext cx="36576" cy="155448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48716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0231E"/>
                </a:solidFill>
                <a:latin typeface="Georgia"/>
              </a:rPr>
              <a:t>CB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632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A5E55"/>
                </a:solidFill>
                <a:latin typeface="Arial"/>
              </a:rPr>
              <a:t>Paiement carte, chèque ou espèces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4184" y="2514600"/>
            <a:ext cx="36576" cy="155448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48716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0231E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30632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A5E55"/>
                </a:solidFill>
                <a:latin typeface="Arial"/>
              </a:rPr>
              <a:t>Sites d'accueil : Beine (blancs) et Irancy (rouge)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4816" y="2514600"/>
            <a:ext cx="36576" cy="1554480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248716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0231E"/>
                </a:solidFill>
                <a:latin typeface="Georgia"/>
              </a:rPr>
              <a:t>Gîte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30632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A5E55"/>
                </a:solidFill>
                <a:latin typeface="Arial"/>
              </a:rPr>
              <a:t>Le Gîte de l'Aeti, à deux pas du caveau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34840"/>
            <a:ext cx="11155680" cy="1051560"/>
          </a:xfrm>
          <a:prstGeom prst="rect">
            <a:avLst/>
          </a:prstGeom>
          <a:noFill/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20231E"/>
                </a:solidFill>
                <a:latin typeface="Arial"/>
              </a:rPr>
              <a:t>Formulaire de contact : </a:t>
            </a:r>
            <a:r>
              <a:rPr sz="1150" b="0" i="0">
                <a:solidFill>
                  <a:srgbClr val="5A5E55"/>
                </a:solidFill>
                <a:latin typeface="Arial"/>
              </a:rPr>
              <a:t>prépare un email dans la messagerie du visiteur — aucune donnée n'est stockée sur le site.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07 — RÉSULTATS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20231E"/>
                </a:solidFill>
                <a:latin typeface="Georgia"/>
              </a:rPr>
              <a:t>Un site qui tient la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167" y="1965960"/>
            <a:ext cx="3566160" cy="173736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21488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057"/>
                </a:solidFill>
                <a:latin typeface="Georgia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0632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5E55"/>
                </a:solidFill>
                <a:latin typeface="Arial"/>
              </a:rPr>
              <a:t>Accessibilité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767" y="1965960"/>
            <a:ext cx="3566160" cy="173736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21488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057"/>
                </a:solidFill>
                <a:latin typeface="Georgia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767" y="30632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5E55"/>
                </a:solidFill>
                <a:latin typeface="Arial"/>
              </a:rPr>
              <a:t>Bonnes pratiques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0367" y="1965960"/>
            <a:ext cx="3566160" cy="1737360"/>
          </a:xfrm>
          <a:prstGeom prst="rect">
            <a:avLst/>
          </a:prstGeom>
          <a:solidFill>
            <a:srgbClr val="F2EFE6"/>
          </a:solidFill>
          <a:ln w="12700">
            <a:solidFill>
              <a:srgbClr val="CEC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0367" y="21488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2F7057"/>
                </a:solidFill>
                <a:latin typeface="Georgia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0367" y="30632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A5E55"/>
                </a:solidFill>
                <a:latin typeface="Arial"/>
              </a:rPr>
              <a:t>SEO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✓  Compilation réussie        ✓  FR/EN testés desktop et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✓  Aucun débordement horizontal        ✓  Aucune erreur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A5E55"/>
                </a:solidFill>
                <a:latin typeface="Arial"/>
              </a:rPr>
              <a:t>✓  Navigation mobile fonctionnelle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2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08 — À VALIDER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20231E"/>
                </a:solidFill>
                <a:latin typeface="Georgia"/>
              </a:rPr>
              <a:t>Ce qui reste entre vos 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5E55"/>
                </a:solidFill>
                <a:latin typeface="Arial"/>
              </a:rPr>
              <a:t>Douze points ne peuvent être confirmés que par vous — la liste complète vous sera remise avant toute mise en ligne.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633472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786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Surface actuelle du vignoble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200400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455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Âge moyen des vignes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30168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3767328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712463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Gamme 2026 complète et millésimes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97096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4334256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2793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Orthographe « Beauregard(s)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64024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4901184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846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Fiche technique de l'Irancy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30952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3640" y="2633472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5786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Tarifs particuliers et professionnels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63640" y="3200400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1455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Statut de la certification HVE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630168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63640" y="3767328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712463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Mentions légales et SIRET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197096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3640" y="4334256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2793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Droits d'usage des photographies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764024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63640" y="4901184"/>
            <a:ext cx="201168" cy="201168"/>
          </a:xfrm>
          <a:prstGeom prst="ellipse">
            <a:avLst/>
          </a:prstGeom>
          <a:noFill/>
          <a:ln w="12700">
            <a:solidFill>
              <a:srgbClr val="2F7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F7057"/>
                </a:solidFill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4846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0231E"/>
                </a:solidFill>
                <a:latin typeface="Arial"/>
              </a:rPr>
              <a:t>Destinataire des demandes de contact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330952"/>
            <a:ext cx="5394960" cy="9144"/>
          </a:xfrm>
          <a:prstGeom prst="rect">
            <a:avLst/>
          </a:prstGeom>
          <a:solidFill>
            <a:srgbClr val="CE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58A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8A07D"/>
                </a:solidFill>
                <a:latin typeface="Arial"/>
              </a:rPr>
              <a:t>09 — LA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F1EDE2"/>
                </a:solidFill>
                <a:latin typeface="Georgia"/>
              </a:rPr>
              <a:t>Une mise en ligne, pas une facture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7863840" cy="2834640"/>
          </a:xfrm>
          <a:prstGeom prst="rect">
            <a:avLst/>
          </a:prstGeom>
          <a:noFill/>
          <a:ln w="12700">
            <a:solidFill>
              <a:srgbClr val="383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713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1EDE2"/>
                </a:solidFill>
                <a:latin typeface="Arial"/>
              </a:rPr>
              <a:t>Ce site a été construit par passion, pas pour en vivre. En échange de la mise en ligne — et de son suivi dans la durée — je vous propose un règlement en bouteilles plutôt qu'en euros.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F1EDE2"/>
                </a:solidFill>
                <a:latin typeface="Arial"/>
              </a:rPr>
              <a:t>Le volume reste à discuter ensemble : c'est un point de départ, pas une facture imposée.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2743200" cy="365760"/>
          </a:xfrm>
          <a:prstGeom prst="rect">
            <a:avLst/>
          </a:prstGeom>
          <a:noFill/>
          <a:ln w="12700">
            <a:solidFill>
              <a:srgbClr val="58A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16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8A07D"/>
                </a:solidFill>
                <a:latin typeface="Arial"/>
              </a:rPr>
              <a:t>À DISCUTER DE VIVE 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8B3A6"/>
                </a:solidFill>
                <a:latin typeface="Arial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40664"/>
            <a:ext cx="256032" cy="12801"/>
          </a:xfrm>
          <a:prstGeom prst="rect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5852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057"/>
                </a:solidFill>
                <a:latin typeface="Arial"/>
              </a:rPr>
              <a:t>10 — PROCHAINE ÉTAPE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i="0">
                <a:solidFill>
                  <a:srgbClr val="20231E"/>
                </a:solidFill>
                <a:latin typeface="Georgia"/>
              </a:rPr>
              <a:t>Vingt minutes pour vous montrer le site en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5E55"/>
                </a:solidFill>
                <a:latin typeface="Arial"/>
              </a:rPr>
              <a:t>Pas d'engagement à cette étape — seulement vous montrer ce qui existe déjà, et voir ensemble ce qu'il reste à ajuster.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502920" y="2834640"/>
            <a:ext cx="3291840" cy="685800"/>
          </a:xfrm>
          <a:prstGeom prst="rect">
            <a:avLst/>
          </a:prstGeom>
          <a:solidFill>
            <a:srgbClr val="20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300" b="1">
                <a:solidFill>
                  <a:srgbClr val="F2EFE6"/>
                </a:solidFill>
              </a:rPr>
              <a:t>Écrire à Thibaud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057"/>
                </a:solidFill>
                <a:latin typeface="Arial"/>
              </a:rPr>
              <a:t>thibaud.myotte@gmail.com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5E55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